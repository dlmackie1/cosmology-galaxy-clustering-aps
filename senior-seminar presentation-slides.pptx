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30"/>
  </p:notesMasterIdLst>
  <p:sldIdLst>
    <p:sldId id="256" r:id="rId5"/>
    <p:sldId id="257" r:id="rId6"/>
    <p:sldId id="271" r:id="rId7"/>
    <p:sldId id="272" r:id="rId8"/>
    <p:sldId id="258" r:id="rId9"/>
    <p:sldId id="259" r:id="rId10"/>
    <p:sldId id="268" r:id="rId11"/>
    <p:sldId id="260" r:id="rId12"/>
    <p:sldId id="273" r:id="rId13"/>
    <p:sldId id="262" r:id="rId14"/>
    <p:sldId id="261" r:id="rId15"/>
    <p:sldId id="263" r:id="rId16"/>
    <p:sldId id="280" r:id="rId17"/>
    <p:sldId id="264" r:id="rId18"/>
    <p:sldId id="281" r:id="rId19"/>
    <p:sldId id="274" r:id="rId20"/>
    <p:sldId id="277" r:id="rId21"/>
    <p:sldId id="265" r:id="rId22"/>
    <p:sldId id="278" r:id="rId23"/>
    <p:sldId id="275" r:id="rId24"/>
    <p:sldId id="279" r:id="rId25"/>
    <p:sldId id="276" r:id="rId26"/>
    <p:sldId id="267" r:id="rId27"/>
    <p:sldId id="269" r:id="rId28"/>
    <p:sldId id="270"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F82237E-BE13-4145-8E96-37ED1C4142B7}">
          <p14:sldIdLst>
            <p14:sldId id="256"/>
            <p14:sldId id="257"/>
            <p14:sldId id="271"/>
            <p14:sldId id="272"/>
            <p14:sldId id="258"/>
            <p14:sldId id="259"/>
            <p14:sldId id="268"/>
            <p14:sldId id="260"/>
            <p14:sldId id="273"/>
            <p14:sldId id="262"/>
            <p14:sldId id="261"/>
            <p14:sldId id="263"/>
            <p14:sldId id="280"/>
            <p14:sldId id="264"/>
            <p14:sldId id="281"/>
            <p14:sldId id="274"/>
            <p14:sldId id="277"/>
            <p14:sldId id="265"/>
            <p14:sldId id="278"/>
            <p14:sldId id="275"/>
            <p14:sldId id="279"/>
            <p14:sldId id="276"/>
            <p14:sldId id="267"/>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755739-88D7-4495-82DA-3F7FCEB2298E}" v="67" dt="2024-12-03T16:27:03.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8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32D5CA-272A-4EBF-B4B3-BB1A57D7C545}" type="datetimeFigureOut">
              <a:rPr lang="en-US" smtClean="0"/>
              <a:t>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50B2E5-7180-4D74-B4FF-47AF6FDCE646}" type="slidenum">
              <a:rPr lang="en-US" smtClean="0"/>
              <a:t>‹#›</a:t>
            </a:fld>
            <a:endParaRPr lang="en-US"/>
          </a:p>
        </p:txBody>
      </p:sp>
    </p:spTree>
    <p:extLst>
      <p:ext uri="{BB962C8B-B14F-4D97-AF65-F5344CB8AC3E}">
        <p14:creationId xmlns:p14="http://schemas.microsoft.com/office/powerpoint/2010/main" val="1587730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everyone up to speed on our and others ‘cosmology research</a:t>
            </a:r>
          </a:p>
        </p:txBody>
      </p:sp>
      <p:sp>
        <p:nvSpPr>
          <p:cNvPr id="4" name="Slide Number Placeholder 3"/>
          <p:cNvSpPr>
            <a:spLocks noGrp="1"/>
          </p:cNvSpPr>
          <p:nvPr>
            <p:ph type="sldNum" sz="quarter" idx="5"/>
          </p:nvPr>
        </p:nvSpPr>
        <p:spPr/>
        <p:txBody>
          <a:bodyPr/>
          <a:lstStyle/>
          <a:p>
            <a:fld id="{4750B2E5-7180-4D74-B4FF-47AF6FDCE646}" type="slidenum">
              <a:rPr lang="en-US" smtClean="0"/>
              <a:t>2</a:t>
            </a:fld>
            <a:endParaRPr lang="en-US"/>
          </a:p>
        </p:txBody>
      </p:sp>
    </p:spTree>
    <p:extLst>
      <p:ext uri="{BB962C8B-B14F-4D97-AF65-F5344CB8AC3E}">
        <p14:creationId xmlns:p14="http://schemas.microsoft.com/office/powerpoint/2010/main" val="1106853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Generalized process of generating APS</a:t>
            </a:r>
          </a:p>
        </p:txBody>
      </p:sp>
      <p:sp>
        <p:nvSpPr>
          <p:cNvPr id="4" name="Slide Number Placeholder 3"/>
          <p:cNvSpPr>
            <a:spLocks noGrp="1"/>
          </p:cNvSpPr>
          <p:nvPr>
            <p:ph type="sldNum" sz="quarter" idx="5"/>
          </p:nvPr>
        </p:nvSpPr>
        <p:spPr/>
        <p:txBody>
          <a:bodyPr/>
          <a:lstStyle/>
          <a:p>
            <a:fld id="{4750B2E5-7180-4D74-B4FF-47AF6FDCE646}" type="slidenum">
              <a:rPr lang="en-US" smtClean="0"/>
              <a:t>3</a:t>
            </a:fld>
            <a:endParaRPr lang="en-US"/>
          </a:p>
        </p:txBody>
      </p:sp>
    </p:spTree>
    <p:extLst>
      <p:ext uri="{BB962C8B-B14F-4D97-AF65-F5344CB8AC3E}">
        <p14:creationId xmlns:p14="http://schemas.microsoft.com/office/powerpoint/2010/main" val="1541229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Doppler effect and redshift</a:t>
            </a:r>
          </a:p>
        </p:txBody>
      </p:sp>
      <p:sp>
        <p:nvSpPr>
          <p:cNvPr id="4" name="Slide Number Placeholder 3"/>
          <p:cNvSpPr>
            <a:spLocks noGrp="1"/>
          </p:cNvSpPr>
          <p:nvPr>
            <p:ph type="sldNum" sz="quarter" idx="5"/>
          </p:nvPr>
        </p:nvSpPr>
        <p:spPr/>
        <p:txBody>
          <a:bodyPr/>
          <a:lstStyle/>
          <a:p>
            <a:fld id="{4750B2E5-7180-4D74-B4FF-47AF6FDCE646}" type="slidenum">
              <a:rPr lang="en-US" smtClean="0"/>
              <a:t>4</a:t>
            </a:fld>
            <a:endParaRPr lang="en-US"/>
          </a:p>
        </p:txBody>
      </p:sp>
    </p:spTree>
    <p:extLst>
      <p:ext uri="{BB962C8B-B14F-4D97-AF65-F5344CB8AC3E}">
        <p14:creationId xmlns:p14="http://schemas.microsoft.com/office/powerpoint/2010/main" val="3224056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tx1"/>
                </a:solidFill>
              </a:rPr>
              <a:t>In other words, Hubble postulated that a galaxy’s recessional velocity was proportional to its distance from Earth, increasing as it moves away, </a:t>
            </a:r>
            <a:endParaRPr lang="en-US" dirty="0"/>
          </a:p>
        </p:txBody>
      </p:sp>
      <p:sp>
        <p:nvSpPr>
          <p:cNvPr id="4" name="Slide Number Placeholder 3"/>
          <p:cNvSpPr>
            <a:spLocks noGrp="1"/>
          </p:cNvSpPr>
          <p:nvPr>
            <p:ph type="sldNum" sz="quarter" idx="5"/>
          </p:nvPr>
        </p:nvSpPr>
        <p:spPr/>
        <p:txBody>
          <a:bodyPr/>
          <a:lstStyle/>
          <a:p>
            <a:fld id="{4750B2E5-7180-4D74-B4FF-47AF6FDCE646}" type="slidenum">
              <a:rPr lang="en-US" smtClean="0"/>
              <a:t>5</a:t>
            </a:fld>
            <a:endParaRPr lang="en-US"/>
          </a:p>
        </p:txBody>
      </p:sp>
    </p:spTree>
    <p:extLst>
      <p:ext uri="{BB962C8B-B14F-4D97-AF65-F5344CB8AC3E}">
        <p14:creationId xmlns:p14="http://schemas.microsoft.com/office/powerpoint/2010/main" val="2877525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challenges of writing code to calculate redshift, box size of the simulation, comoving coordinates, proper motion, proper distance. Example of redshift calculation. Use part of my code as the background image</a:t>
            </a:r>
          </a:p>
        </p:txBody>
      </p:sp>
      <p:sp>
        <p:nvSpPr>
          <p:cNvPr id="4" name="Slide Number Placeholder 3"/>
          <p:cNvSpPr>
            <a:spLocks noGrp="1"/>
          </p:cNvSpPr>
          <p:nvPr>
            <p:ph type="sldNum" sz="quarter" idx="5"/>
          </p:nvPr>
        </p:nvSpPr>
        <p:spPr/>
        <p:txBody>
          <a:bodyPr/>
          <a:lstStyle/>
          <a:p>
            <a:fld id="{4750B2E5-7180-4D74-B4FF-47AF6FDCE646}" type="slidenum">
              <a:rPr lang="en-US" smtClean="0"/>
              <a:t>6</a:t>
            </a:fld>
            <a:endParaRPr lang="en-US"/>
          </a:p>
        </p:txBody>
      </p:sp>
    </p:spTree>
    <p:extLst>
      <p:ext uri="{BB962C8B-B14F-4D97-AF65-F5344CB8AC3E}">
        <p14:creationId xmlns:p14="http://schemas.microsoft.com/office/powerpoint/2010/main" val="4032126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the python libraries necessary for the project and take a picture of the cluster.</a:t>
            </a:r>
          </a:p>
        </p:txBody>
      </p:sp>
      <p:sp>
        <p:nvSpPr>
          <p:cNvPr id="4" name="Slide Number Placeholder 3"/>
          <p:cNvSpPr>
            <a:spLocks noGrp="1"/>
          </p:cNvSpPr>
          <p:nvPr>
            <p:ph type="sldNum" sz="quarter" idx="5"/>
          </p:nvPr>
        </p:nvSpPr>
        <p:spPr/>
        <p:txBody>
          <a:bodyPr/>
          <a:lstStyle/>
          <a:p>
            <a:fld id="{4750B2E5-7180-4D74-B4FF-47AF6FDCE646}" type="slidenum">
              <a:rPr lang="en-US" smtClean="0"/>
              <a:t>7</a:t>
            </a:fld>
            <a:endParaRPr lang="en-US"/>
          </a:p>
        </p:txBody>
      </p:sp>
    </p:spTree>
    <p:extLst>
      <p:ext uri="{BB962C8B-B14F-4D97-AF65-F5344CB8AC3E}">
        <p14:creationId xmlns:p14="http://schemas.microsoft.com/office/powerpoint/2010/main" val="3450638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process of injecting redshift into simulation data in detail. Amending the generalized process to include redshift.</a:t>
            </a:r>
          </a:p>
        </p:txBody>
      </p:sp>
      <p:sp>
        <p:nvSpPr>
          <p:cNvPr id="4" name="Slide Number Placeholder 3"/>
          <p:cNvSpPr>
            <a:spLocks noGrp="1"/>
          </p:cNvSpPr>
          <p:nvPr>
            <p:ph type="sldNum" sz="quarter" idx="5"/>
          </p:nvPr>
        </p:nvSpPr>
        <p:spPr/>
        <p:txBody>
          <a:bodyPr/>
          <a:lstStyle/>
          <a:p>
            <a:fld id="{4750B2E5-7180-4D74-B4FF-47AF6FDCE646}" type="slidenum">
              <a:rPr lang="en-US" smtClean="0"/>
              <a:t>8</a:t>
            </a:fld>
            <a:endParaRPr lang="en-US"/>
          </a:p>
        </p:txBody>
      </p:sp>
    </p:spTree>
    <p:extLst>
      <p:ext uri="{BB962C8B-B14F-4D97-AF65-F5344CB8AC3E}">
        <p14:creationId xmlns:p14="http://schemas.microsoft.com/office/powerpoint/2010/main" val="2528895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using PNW sim data  vs </a:t>
            </a:r>
            <a:r>
              <a:rPr lang="en-US" dirty="0" err="1"/>
              <a:t>Quijote</a:t>
            </a:r>
            <a:r>
              <a:rPr lang="en-US" dirty="0"/>
              <a:t> data. (</a:t>
            </a:r>
            <a:r>
              <a:rPr lang="en-US" dirty="0" err="1"/>
              <a:t>stitiching</a:t>
            </a:r>
            <a:r>
              <a:rPr lang="en-US" dirty="0"/>
              <a:t>)</a:t>
            </a:r>
          </a:p>
        </p:txBody>
      </p:sp>
      <p:sp>
        <p:nvSpPr>
          <p:cNvPr id="4" name="Slide Number Placeholder 3"/>
          <p:cNvSpPr>
            <a:spLocks noGrp="1"/>
          </p:cNvSpPr>
          <p:nvPr>
            <p:ph type="sldNum" sz="quarter" idx="5"/>
          </p:nvPr>
        </p:nvSpPr>
        <p:spPr/>
        <p:txBody>
          <a:bodyPr/>
          <a:lstStyle/>
          <a:p>
            <a:fld id="{4750B2E5-7180-4D74-B4FF-47AF6FDCE646}" type="slidenum">
              <a:rPr lang="en-US" smtClean="0"/>
              <a:t>10</a:t>
            </a:fld>
            <a:endParaRPr lang="en-US"/>
          </a:p>
        </p:txBody>
      </p:sp>
    </p:spTree>
    <p:extLst>
      <p:ext uri="{BB962C8B-B14F-4D97-AF65-F5344CB8AC3E}">
        <p14:creationId xmlns:p14="http://schemas.microsoft.com/office/powerpoint/2010/main" val="3871081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histograms of the radii and explain why cutoffs were made for the radii</a:t>
            </a:r>
          </a:p>
        </p:txBody>
      </p:sp>
      <p:sp>
        <p:nvSpPr>
          <p:cNvPr id="4" name="Slide Number Placeholder 3"/>
          <p:cNvSpPr>
            <a:spLocks noGrp="1"/>
          </p:cNvSpPr>
          <p:nvPr>
            <p:ph type="sldNum" sz="quarter" idx="5"/>
          </p:nvPr>
        </p:nvSpPr>
        <p:spPr/>
        <p:txBody>
          <a:bodyPr/>
          <a:lstStyle/>
          <a:p>
            <a:fld id="{4750B2E5-7180-4D74-B4FF-47AF6FDCE646}" type="slidenum">
              <a:rPr lang="en-US" smtClean="0"/>
              <a:t>11</a:t>
            </a:fld>
            <a:endParaRPr lang="en-US"/>
          </a:p>
        </p:txBody>
      </p:sp>
    </p:spTree>
    <p:extLst>
      <p:ext uri="{BB962C8B-B14F-4D97-AF65-F5344CB8AC3E}">
        <p14:creationId xmlns:p14="http://schemas.microsoft.com/office/powerpoint/2010/main" val="1603449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Regular APS</a:t>
            </a:r>
          </a:p>
        </p:txBody>
      </p:sp>
      <p:sp>
        <p:nvSpPr>
          <p:cNvPr id="4" name="Slide Number Placeholder 3"/>
          <p:cNvSpPr>
            <a:spLocks noGrp="1"/>
          </p:cNvSpPr>
          <p:nvPr>
            <p:ph type="sldNum" sz="quarter" idx="5"/>
          </p:nvPr>
        </p:nvSpPr>
        <p:spPr/>
        <p:txBody>
          <a:bodyPr/>
          <a:lstStyle/>
          <a:p>
            <a:fld id="{4750B2E5-7180-4D74-B4FF-47AF6FDCE646}" type="slidenum">
              <a:rPr lang="en-US" smtClean="0"/>
              <a:t>12</a:t>
            </a:fld>
            <a:endParaRPr lang="en-US"/>
          </a:p>
        </p:txBody>
      </p:sp>
    </p:spTree>
    <p:extLst>
      <p:ext uri="{BB962C8B-B14F-4D97-AF65-F5344CB8AC3E}">
        <p14:creationId xmlns:p14="http://schemas.microsoft.com/office/powerpoint/2010/main" val="21807828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z =1, 2, and 3</a:t>
            </a:r>
          </a:p>
        </p:txBody>
      </p:sp>
      <p:sp>
        <p:nvSpPr>
          <p:cNvPr id="4" name="Slide Number Placeholder 3"/>
          <p:cNvSpPr>
            <a:spLocks noGrp="1"/>
          </p:cNvSpPr>
          <p:nvPr>
            <p:ph type="sldNum" sz="quarter" idx="5"/>
          </p:nvPr>
        </p:nvSpPr>
        <p:spPr/>
        <p:txBody>
          <a:bodyPr/>
          <a:lstStyle/>
          <a:p>
            <a:fld id="{4750B2E5-7180-4D74-B4FF-47AF6FDCE646}" type="slidenum">
              <a:rPr lang="en-US" smtClean="0"/>
              <a:t>14</a:t>
            </a:fld>
            <a:endParaRPr lang="en-US"/>
          </a:p>
        </p:txBody>
      </p:sp>
    </p:spTree>
    <p:extLst>
      <p:ext uri="{BB962C8B-B14F-4D97-AF65-F5344CB8AC3E}">
        <p14:creationId xmlns:p14="http://schemas.microsoft.com/office/powerpoint/2010/main" val="391161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z replace function designed as a test</a:t>
            </a:r>
          </a:p>
        </p:txBody>
      </p:sp>
      <p:sp>
        <p:nvSpPr>
          <p:cNvPr id="4" name="Slide Number Placeholder 3"/>
          <p:cNvSpPr>
            <a:spLocks noGrp="1"/>
          </p:cNvSpPr>
          <p:nvPr>
            <p:ph type="sldNum" sz="quarter" idx="5"/>
          </p:nvPr>
        </p:nvSpPr>
        <p:spPr/>
        <p:txBody>
          <a:bodyPr/>
          <a:lstStyle/>
          <a:p>
            <a:fld id="{4750B2E5-7180-4D74-B4FF-47AF6FDCE646}" type="slidenum">
              <a:rPr lang="en-US" smtClean="0"/>
              <a:t>17</a:t>
            </a:fld>
            <a:endParaRPr lang="en-US"/>
          </a:p>
        </p:txBody>
      </p:sp>
    </p:spTree>
    <p:extLst>
      <p:ext uri="{BB962C8B-B14F-4D97-AF65-F5344CB8AC3E}">
        <p14:creationId xmlns:p14="http://schemas.microsoft.com/office/powerpoint/2010/main" val="562098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Mollweide projections</a:t>
            </a:r>
          </a:p>
        </p:txBody>
      </p:sp>
      <p:sp>
        <p:nvSpPr>
          <p:cNvPr id="4" name="Slide Number Placeholder 3"/>
          <p:cNvSpPr>
            <a:spLocks noGrp="1"/>
          </p:cNvSpPr>
          <p:nvPr>
            <p:ph type="sldNum" sz="quarter" idx="5"/>
          </p:nvPr>
        </p:nvSpPr>
        <p:spPr/>
        <p:txBody>
          <a:bodyPr/>
          <a:lstStyle/>
          <a:p>
            <a:fld id="{4750B2E5-7180-4D74-B4FF-47AF6FDCE646}" type="slidenum">
              <a:rPr lang="en-US" smtClean="0"/>
              <a:t>18</a:t>
            </a:fld>
            <a:endParaRPr lang="en-US"/>
          </a:p>
        </p:txBody>
      </p:sp>
    </p:spTree>
    <p:extLst>
      <p:ext uri="{BB962C8B-B14F-4D97-AF65-F5344CB8AC3E}">
        <p14:creationId xmlns:p14="http://schemas.microsoft.com/office/powerpoint/2010/main" val="18661286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50B2E5-7180-4D74-B4FF-47AF6FDCE646}" type="slidenum">
              <a:rPr lang="en-US" smtClean="0"/>
              <a:t>23</a:t>
            </a:fld>
            <a:endParaRPr lang="en-US"/>
          </a:p>
        </p:txBody>
      </p:sp>
    </p:spTree>
    <p:extLst>
      <p:ext uri="{BB962C8B-B14F-4D97-AF65-F5344CB8AC3E}">
        <p14:creationId xmlns:p14="http://schemas.microsoft.com/office/powerpoint/2010/main" val="4272401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D46E1E-1FBF-4E29-8998-E943BDDFB518}"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515613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D46E1E-1FBF-4E29-8998-E943BDDFB518}"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1120327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D46E1E-1FBF-4E29-8998-E943BDDFB518}"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4191124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D46E1E-1FBF-4E29-8998-E943BDDFB518}"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787314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D46E1E-1FBF-4E29-8998-E943BDDFB518}"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959728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D46E1E-1FBF-4E29-8998-E943BDDFB518}" type="datetimeFigureOut">
              <a:rPr lang="en-US" smtClean="0"/>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1161682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D46E1E-1FBF-4E29-8998-E943BDDFB518}" type="datetimeFigureOut">
              <a:rPr lang="en-US" smtClean="0"/>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2051216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D46E1E-1FBF-4E29-8998-E943BDDFB518}"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84305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D46E1E-1FBF-4E29-8998-E943BDDFB518}"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78219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D46E1E-1FBF-4E29-8998-E943BDDFB518}"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1016586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D46E1E-1FBF-4E29-8998-E943BDDFB518}"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11390B-C59A-44AA-B782-A4CC34760BE6}" type="slidenum">
              <a:rPr lang="en-US" smtClean="0"/>
              <a:t>‹#›</a:t>
            </a:fld>
            <a:endParaRPr lang="en-US"/>
          </a:p>
        </p:txBody>
      </p:sp>
    </p:spTree>
    <p:extLst>
      <p:ext uri="{BB962C8B-B14F-4D97-AF65-F5344CB8AC3E}">
        <p14:creationId xmlns:p14="http://schemas.microsoft.com/office/powerpoint/2010/main" val="2410637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FED46E1E-1FBF-4E29-8998-E943BDDFB518}" type="datetimeFigureOut">
              <a:rPr lang="en-US" smtClean="0"/>
              <a:t>12/2/2024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7311390B-C59A-44AA-B782-A4CC34760BE6}" type="slidenum">
              <a:rPr lang="en-US" smtClean="0"/>
              <a:t>‹#›</a:t>
            </a:fld>
            <a:endParaRPr lang="en-US"/>
          </a:p>
        </p:txBody>
      </p:sp>
    </p:spTree>
    <p:extLst>
      <p:ext uri="{BB962C8B-B14F-4D97-AF65-F5344CB8AC3E}">
        <p14:creationId xmlns:p14="http://schemas.microsoft.com/office/powerpoint/2010/main" val="451969849"/>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pexels.com/photo/space-milky-way-universe-star-56621/"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wiki.tfes.org/Evidence_for_Universal_Acceleration?fbclid=IwAR2Y66nZMz4Ue8ntbkQVZgVhSqQsd3ZNqjkFOBlkhcYnxSjM8gXlPe2OTPw"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https://creativecommons.org/licenses/by/3.0/" TargetMode="External"/><Relationship Id="rId4" Type="http://schemas.openxmlformats.org/officeDocument/2006/relationships/hyperlink" Target="https://www.universetoday.com/author/msimo/"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www.flickr.com/photos/joncutrer/4466101789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lass with a light shining through it&#10;&#10;Description automatically generated with medium confidence">
            <a:extLst>
              <a:ext uri="{FF2B5EF4-FFF2-40B4-BE49-F238E27FC236}">
                <a16:creationId xmlns:a16="http://schemas.microsoft.com/office/drawing/2014/main" id="{D12B6C07-BEF4-C98B-B9FA-9BDD04BEC958}"/>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7858" r="-1" b="10004"/>
          <a:stretch/>
        </p:blipFill>
        <p:spPr>
          <a:xfrm>
            <a:off x="20" y="10"/>
            <a:ext cx="12188930" cy="6857990"/>
          </a:xfrm>
          <a:prstGeom prst="rect">
            <a:avLst/>
          </a:prstGeom>
        </p:spPr>
      </p:pic>
      <p:sp>
        <p:nvSpPr>
          <p:cNvPr id="2" name="Title 1">
            <a:extLst>
              <a:ext uri="{FF2B5EF4-FFF2-40B4-BE49-F238E27FC236}">
                <a16:creationId xmlns:a16="http://schemas.microsoft.com/office/drawing/2014/main" id="{1BCD4E96-ADA8-EF5C-8FB9-2CAC4FE0C9B5}"/>
              </a:ext>
            </a:extLst>
          </p:cNvPr>
          <p:cNvSpPr>
            <a:spLocks noGrp="1"/>
          </p:cNvSpPr>
          <p:nvPr>
            <p:ph type="ctrTitle"/>
          </p:nvPr>
        </p:nvSpPr>
        <p:spPr>
          <a:xfrm>
            <a:off x="1524000" y="1122363"/>
            <a:ext cx="9144000" cy="3063240"/>
          </a:xfrm>
        </p:spPr>
        <p:txBody>
          <a:bodyPr>
            <a:normAutofit/>
          </a:bodyPr>
          <a:lstStyle/>
          <a:p>
            <a:r>
              <a:rPr lang="en-US" sz="6600">
                <a:solidFill>
                  <a:schemeClr val="bg1"/>
                </a:solidFill>
              </a:rPr>
              <a:t>Improving cosmological simulations using redshift injections</a:t>
            </a:r>
          </a:p>
        </p:txBody>
      </p:sp>
      <p:sp>
        <p:nvSpPr>
          <p:cNvPr id="3" name="Subtitle 2">
            <a:extLst>
              <a:ext uri="{FF2B5EF4-FFF2-40B4-BE49-F238E27FC236}">
                <a16:creationId xmlns:a16="http://schemas.microsoft.com/office/drawing/2014/main" id="{695AFD7D-8C2A-AA3A-C989-113786ADBFD3}"/>
              </a:ext>
            </a:extLst>
          </p:cNvPr>
          <p:cNvSpPr>
            <a:spLocks noGrp="1"/>
          </p:cNvSpPr>
          <p:nvPr>
            <p:ph type="subTitle" idx="1"/>
          </p:nvPr>
        </p:nvSpPr>
        <p:spPr>
          <a:xfrm>
            <a:off x="1527048" y="4599432"/>
            <a:ext cx="9144000" cy="1536192"/>
          </a:xfrm>
        </p:spPr>
        <p:txBody>
          <a:bodyPr>
            <a:normAutofit/>
          </a:bodyPr>
          <a:lstStyle/>
          <a:p>
            <a:r>
              <a:rPr lang="en-US">
                <a:solidFill>
                  <a:schemeClr val="bg1"/>
                </a:solidFill>
              </a:rPr>
              <a:t>Deonte L Mackie</a:t>
            </a:r>
          </a:p>
          <a:p>
            <a:r>
              <a:rPr lang="en-US">
                <a:solidFill>
                  <a:schemeClr val="bg1"/>
                </a:solidFill>
              </a:rPr>
              <a:t>Purdue University Northwest</a:t>
            </a:r>
          </a:p>
          <a:p>
            <a:r>
              <a:rPr lang="en-US">
                <a:solidFill>
                  <a:schemeClr val="bg1"/>
                </a:solidFill>
              </a:rPr>
              <a:t>PHYS 49400</a:t>
            </a:r>
          </a:p>
        </p:txBody>
      </p:sp>
      <p:sp>
        <p:nvSpPr>
          <p:cNvPr id="11"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76266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B9BB7AC-A650-D3DA-2B80-EF4A00821870}"/>
              </a:ext>
            </a:extLst>
          </p:cNvPr>
          <p:cNvPicPr>
            <a:picLocks noChangeAspect="1"/>
          </p:cNvPicPr>
          <p:nvPr/>
        </p:nvPicPr>
        <p:blipFill>
          <a:blip r:embed="rId3">
            <a:alphaModFix amt="35000"/>
          </a:blip>
          <a:src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73642628-76FC-4169-11C2-69180C91BC7E}"/>
              </a:ext>
            </a:extLst>
          </p:cNvPr>
          <p:cNvSpPr>
            <a:spLocks noGrp="1"/>
          </p:cNvSpPr>
          <p:nvPr>
            <p:ph type="title"/>
          </p:nvPr>
        </p:nvSpPr>
        <p:spPr>
          <a:xfrm>
            <a:off x="838199" y="1065862"/>
            <a:ext cx="6052955" cy="4726276"/>
          </a:xfrm>
        </p:spPr>
        <p:txBody>
          <a:bodyPr>
            <a:normAutofit/>
          </a:bodyPr>
          <a:lstStyle/>
          <a:p>
            <a:pPr algn="r"/>
            <a:r>
              <a:rPr lang="en-US" sz="8000">
                <a:ln w="22225">
                  <a:solidFill>
                    <a:srgbClr val="FFFFFF"/>
                  </a:solidFill>
                </a:ln>
                <a:noFill/>
              </a:rPr>
              <a:t>Background</a:t>
            </a:r>
          </a:p>
        </p:txBody>
      </p:sp>
      <p:cxnSp>
        <p:nvCxnSpPr>
          <p:cNvPr id="17" name="Straight Connector 16">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EBA8B17-FFF7-4FFD-4058-2EB8F3E2F430}"/>
              </a:ext>
            </a:extLst>
          </p:cNvPr>
          <p:cNvSpPr>
            <a:spLocks noGrp="1"/>
          </p:cNvSpPr>
          <p:nvPr>
            <p:ph idx="1"/>
          </p:nvPr>
        </p:nvSpPr>
        <p:spPr>
          <a:xfrm>
            <a:off x="7534641" y="1065862"/>
            <a:ext cx="3860002" cy="4726276"/>
          </a:xfrm>
        </p:spPr>
        <p:txBody>
          <a:bodyPr anchor="ctr">
            <a:normAutofit/>
          </a:bodyPr>
          <a:lstStyle/>
          <a:p>
            <a:pPr marL="0" indent="0">
              <a:buNone/>
            </a:pPr>
            <a:r>
              <a:rPr lang="en-US" sz="2000" dirty="0">
                <a:solidFill>
                  <a:srgbClr val="FFFFFF"/>
                </a:solidFill>
              </a:rPr>
              <a:t>As a refresher, cosmology is the study of the behavior of the Universe including its history. </a:t>
            </a:r>
          </a:p>
          <a:p>
            <a:pPr marL="0" indent="0">
              <a:buNone/>
            </a:pPr>
            <a:r>
              <a:rPr lang="en-US" sz="2000" dirty="0">
                <a:solidFill>
                  <a:srgbClr val="FFFFFF"/>
                </a:solidFill>
              </a:rPr>
              <a:t>Our research looks at Angular Power Spectra (APS) generated from simulations and compares them against real data.</a:t>
            </a:r>
          </a:p>
          <a:p>
            <a:pPr marL="0" indent="0">
              <a:buNone/>
            </a:pPr>
            <a:endParaRPr lang="en-US" sz="2000" dirty="0">
              <a:solidFill>
                <a:srgbClr val="FFFFFF"/>
              </a:solidFill>
            </a:endParaRPr>
          </a:p>
          <a:p>
            <a:pPr marL="0" indent="0">
              <a:buNone/>
            </a:pPr>
            <a:endParaRPr lang="en-US" sz="2000" dirty="0">
              <a:solidFill>
                <a:srgbClr val="FFFFFF"/>
              </a:solidFill>
            </a:endParaRPr>
          </a:p>
        </p:txBody>
      </p:sp>
    </p:spTree>
    <p:extLst>
      <p:ext uri="{BB962C8B-B14F-4D97-AF65-F5344CB8AC3E}">
        <p14:creationId xmlns:p14="http://schemas.microsoft.com/office/powerpoint/2010/main" val="2581960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8074FCA-CFEC-B2A6-9F15-7B70563D3105}"/>
              </a:ext>
            </a:extLst>
          </p:cNvPr>
          <p:cNvPicPr>
            <a:picLocks noChangeAspect="1"/>
          </p:cNvPicPr>
          <p:nvPr/>
        </p:nvPicPr>
        <p:blipFill>
          <a:blip r:embed="rId3">
            <a:alphaModFix amt="35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5129" b="16746"/>
          <a:stretch/>
        </p:blipFill>
        <p:spPr>
          <a:xfrm>
            <a:off x="20" y="1"/>
            <a:ext cx="12191980" cy="6857999"/>
          </a:xfrm>
          <a:prstGeom prst="rect">
            <a:avLst/>
          </a:prstGeom>
        </p:spPr>
      </p:pic>
      <p:sp>
        <p:nvSpPr>
          <p:cNvPr id="2" name="Title 1">
            <a:extLst>
              <a:ext uri="{FF2B5EF4-FFF2-40B4-BE49-F238E27FC236}">
                <a16:creationId xmlns:a16="http://schemas.microsoft.com/office/drawing/2014/main" id="{F90D1329-7612-28CF-C26F-FE53E7C838B1}"/>
              </a:ext>
            </a:extLst>
          </p:cNvPr>
          <p:cNvSpPr>
            <a:spLocks noGrp="1"/>
          </p:cNvSpPr>
          <p:nvPr>
            <p:ph type="title"/>
          </p:nvPr>
        </p:nvSpPr>
        <p:spPr>
          <a:xfrm>
            <a:off x="838199" y="1065862"/>
            <a:ext cx="6052955" cy="4726276"/>
          </a:xfrm>
        </p:spPr>
        <p:txBody>
          <a:bodyPr>
            <a:normAutofit/>
          </a:bodyPr>
          <a:lstStyle/>
          <a:p>
            <a:pPr algn="r"/>
            <a:r>
              <a:rPr lang="en-US" sz="7400" dirty="0">
                <a:ln w="22225">
                  <a:solidFill>
                    <a:srgbClr val="FFFFFF"/>
                  </a:solidFill>
                </a:ln>
                <a:noFill/>
              </a:rPr>
              <a:t>Generalized Angular Power Spectra</a:t>
            </a:r>
          </a:p>
        </p:txBody>
      </p:sp>
      <p:cxnSp>
        <p:nvCxnSpPr>
          <p:cNvPr id="8" name="Straight Connector 7">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57598C3-9A97-05F7-32C3-955E7DD8F5AD}"/>
              </a:ext>
            </a:extLst>
          </p:cNvPr>
          <p:cNvSpPr>
            <a:spLocks noGrp="1"/>
          </p:cNvSpPr>
          <p:nvPr>
            <p:ph idx="1"/>
          </p:nvPr>
        </p:nvSpPr>
        <p:spPr>
          <a:xfrm>
            <a:off x="7534641" y="1065862"/>
            <a:ext cx="3860002" cy="4726276"/>
          </a:xfrm>
        </p:spPr>
        <p:txBody>
          <a:bodyPr anchor="ctr">
            <a:normAutofit/>
          </a:bodyPr>
          <a:lstStyle/>
          <a:p>
            <a:r>
              <a:rPr lang="en-US" sz="1400">
                <a:solidFill>
                  <a:srgbClr val="FFFFFF"/>
                </a:solidFill>
              </a:rPr>
              <a:t>Step 1 – Import the HDF5 or FITS file into a Python terminal such as a local Jupyter notebook or Google Colab (more on that later)</a:t>
            </a:r>
          </a:p>
          <a:p>
            <a:r>
              <a:rPr lang="en-US" sz="1400">
                <a:solidFill>
                  <a:srgbClr val="FFFFFF"/>
                </a:solidFill>
              </a:rPr>
              <a:t>Step 2 – Transform the Cartesian coordinates to spherical coordinates.</a:t>
            </a:r>
          </a:p>
          <a:p>
            <a:r>
              <a:rPr lang="en-US" sz="1400">
                <a:solidFill>
                  <a:srgbClr val="FFFFFF"/>
                </a:solidFill>
              </a:rPr>
              <a:t>Step 3 – Set the origin and center the dataset by finding the maximum and minimum coordinates. </a:t>
            </a:r>
          </a:p>
          <a:p>
            <a:r>
              <a:rPr lang="en-US" sz="1400">
                <a:solidFill>
                  <a:srgbClr val="FFFFFF"/>
                </a:solidFill>
              </a:rPr>
              <a:t>Step 4 – Normalize the coordinates and slice away the radial components from the dataset.</a:t>
            </a:r>
          </a:p>
          <a:p>
            <a:r>
              <a:rPr lang="en-US" sz="1400">
                <a:solidFill>
                  <a:srgbClr val="FFFFFF"/>
                </a:solidFill>
              </a:rPr>
              <a:t>Step 5 – Now with just the declination and Right Ascension coordinates remaining, you are ready to make a healpix map.</a:t>
            </a:r>
          </a:p>
          <a:p>
            <a:r>
              <a:rPr lang="en-US" sz="1400">
                <a:solidFill>
                  <a:srgbClr val="FFFFFF"/>
                </a:solidFill>
              </a:rPr>
              <a:t>Step 6 – Once the map has been made, you are now ready to plot the APS, you are also free to generate a Mollweide projection to visualize the dataset.</a:t>
            </a:r>
          </a:p>
        </p:txBody>
      </p:sp>
    </p:spTree>
    <p:extLst>
      <p:ext uri="{BB962C8B-B14F-4D97-AF65-F5344CB8AC3E}">
        <p14:creationId xmlns:p14="http://schemas.microsoft.com/office/powerpoint/2010/main" val="1526573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7A5B6-6E98-083F-01C1-62219A2F88E2}"/>
              </a:ext>
            </a:extLst>
          </p:cNvPr>
          <p:cNvSpPr>
            <a:spLocks noGrp="1"/>
          </p:cNvSpPr>
          <p:nvPr>
            <p:ph type="title"/>
          </p:nvPr>
        </p:nvSpPr>
        <p:spPr>
          <a:xfrm>
            <a:off x="481013" y="3752849"/>
            <a:ext cx="3290887" cy="2452687"/>
          </a:xfrm>
        </p:spPr>
        <p:txBody>
          <a:bodyPr anchor="ctr">
            <a:normAutofit/>
          </a:bodyPr>
          <a:lstStyle/>
          <a:p>
            <a:r>
              <a:rPr lang="en-US" sz="3600" dirty="0"/>
              <a:t>What is Redshift</a:t>
            </a:r>
          </a:p>
        </p:txBody>
      </p:sp>
      <p:sp>
        <p:nvSpPr>
          <p:cNvPr id="3" name="Content Placeholder 2">
            <a:extLst>
              <a:ext uri="{FF2B5EF4-FFF2-40B4-BE49-F238E27FC236}">
                <a16:creationId xmlns:a16="http://schemas.microsoft.com/office/drawing/2014/main" id="{0CAE6E96-09D4-8E23-BEA4-C4D02032738C}"/>
              </a:ext>
            </a:extLst>
          </p:cNvPr>
          <p:cNvSpPr>
            <a:spLocks noGrp="1"/>
          </p:cNvSpPr>
          <p:nvPr>
            <p:ph idx="1"/>
          </p:nvPr>
        </p:nvSpPr>
        <p:spPr>
          <a:xfrm>
            <a:off x="4223982" y="3752850"/>
            <a:ext cx="7485413" cy="2452687"/>
          </a:xfrm>
        </p:spPr>
        <p:txBody>
          <a:bodyPr anchor="ctr">
            <a:normAutofit/>
          </a:bodyPr>
          <a:lstStyle/>
          <a:p>
            <a:pPr marL="0" indent="0">
              <a:buNone/>
            </a:pPr>
            <a:r>
              <a:rPr lang="en-US" sz="1400" dirty="0"/>
              <a:t>It was discovered by Austrian physicist and mathematician, Christian Doppler that as sound waves propagate from a source, an observer will experience a change in frequency of the waves from the source known as the “Doppler effect”.</a:t>
            </a:r>
          </a:p>
          <a:p>
            <a:pPr marL="0" indent="0">
              <a:buNone/>
            </a:pPr>
            <a:r>
              <a:rPr lang="en-US" sz="1400" dirty="0"/>
              <a:t>As astronomy grew and as time went on, it was discovered that the effect also applied to electromagnetic waves and all waves. From a “visual” standpoint, this is observed as either a blueshift or redshift in EM radiation. </a:t>
            </a:r>
          </a:p>
          <a:p>
            <a:pPr marL="0" indent="0">
              <a:buNone/>
            </a:pPr>
            <a:r>
              <a:rPr lang="en-US" sz="1400" dirty="0"/>
              <a:t>A stationary observer will see objects “</a:t>
            </a:r>
            <a:r>
              <a:rPr lang="en-US" sz="1400" dirty="0" err="1"/>
              <a:t>blueshifted</a:t>
            </a:r>
            <a:r>
              <a:rPr lang="en-US" sz="1400" dirty="0"/>
              <a:t>” if the objects are approaching the observer resulting in the emitted wavelength becoming shorter in frequency.</a:t>
            </a:r>
          </a:p>
          <a:p>
            <a:pPr marL="0" indent="0">
              <a:buNone/>
            </a:pPr>
            <a:r>
              <a:rPr lang="en-US" sz="1400" dirty="0"/>
              <a:t>“Redshifted” objects are observed if the objects are receding from the observer as this results in the emitted wavelength becoming longer in frequency.</a:t>
            </a:r>
          </a:p>
          <a:p>
            <a:endParaRPr lang="en-US" sz="1400" dirty="0"/>
          </a:p>
        </p:txBody>
      </p:sp>
      <p:pic>
        <p:nvPicPr>
          <p:cNvPr id="6" name="Picture 5" descr="A diagram of a solar system&#10;&#10;Description automatically generated">
            <a:extLst>
              <a:ext uri="{FF2B5EF4-FFF2-40B4-BE49-F238E27FC236}">
                <a16:creationId xmlns:a16="http://schemas.microsoft.com/office/drawing/2014/main" id="{297BE67D-65C6-2D7F-2C16-A7D6D5E63B4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8162" b="16737"/>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7" name="TextBox 6">
            <a:extLst>
              <a:ext uri="{FF2B5EF4-FFF2-40B4-BE49-F238E27FC236}">
                <a16:creationId xmlns:a16="http://schemas.microsoft.com/office/drawing/2014/main" id="{EE938B63-AC1B-D469-326B-ADEEF7EA3B79}"/>
              </a:ext>
            </a:extLst>
          </p:cNvPr>
          <p:cNvSpPr txBox="1"/>
          <p:nvPr/>
        </p:nvSpPr>
        <p:spPr>
          <a:xfrm>
            <a:off x="9759924" y="6657945"/>
            <a:ext cx="2432076"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wiki.tfes.org/Evidence_for_Universal_Acceleration?fbclid=IwAR2Y66nZMz4Ue8ntbkQVZgVhSqQsd3ZNqjkFOBlkhcYnxSjM8gXlPe2OTPw">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4193650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B87759-F668-2C0C-9E4D-68074BA24EA6}"/>
              </a:ext>
            </a:extLst>
          </p:cNvPr>
          <p:cNvSpPr>
            <a:spLocks noGrp="1"/>
          </p:cNvSpPr>
          <p:nvPr>
            <p:ph type="title"/>
          </p:nvPr>
        </p:nvSpPr>
        <p:spPr>
          <a:xfrm>
            <a:off x="5297762" y="640080"/>
            <a:ext cx="6251110" cy="3566160"/>
          </a:xfrm>
        </p:spPr>
        <p:txBody>
          <a:bodyPr vert="horz" lIns="91440" tIns="45720" rIns="91440" bIns="45720" rtlCol="0" anchor="b">
            <a:normAutofit/>
          </a:bodyPr>
          <a:lstStyle/>
          <a:p>
            <a:r>
              <a:rPr lang="en-US" sz="5400" dirty="0"/>
              <a:t>Why add redshift</a:t>
            </a:r>
          </a:p>
        </p:txBody>
      </p:sp>
      <p:sp>
        <p:nvSpPr>
          <p:cNvPr id="4" name="Text Placeholder 3">
            <a:extLst>
              <a:ext uri="{FF2B5EF4-FFF2-40B4-BE49-F238E27FC236}">
                <a16:creationId xmlns:a16="http://schemas.microsoft.com/office/drawing/2014/main" id="{A302480A-4BAA-0402-A548-0FD4B34162DF}"/>
              </a:ext>
            </a:extLst>
          </p:cNvPr>
          <p:cNvSpPr>
            <a:spLocks noGrp="1"/>
          </p:cNvSpPr>
          <p:nvPr>
            <p:ph type="body" idx="1"/>
          </p:nvPr>
        </p:nvSpPr>
        <p:spPr>
          <a:xfrm>
            <a:off x="5297760" y="4636008"/>
            <a:ext cx="6251111" cy="1572768"/>
          </a:xfrm>
        </p:spPr>
        <p:txBody>
          <a:bodyPr vert="horz" lIns="91440" tIns="45720" rIns="91440" bIns="45720" rtlCol="0">
            <a:noAutofit/>
          </a:bodyPr>
          <a:lstStyle/>
          <a:p>
            <a:r>
              <a:rPr lang="en-US" sz="1200" dirty="0">
                <a:solidFill>
                  <a:schemeClr val="tx1"/>
                </a:solidFill>
              </a:rPr>
              <a:t>It was long thought that the Universe was static and unchanging, however this resulted in a paradox known as “</a:t>
            </a:r>
            <a:r>
              <a:rPr lang="en-US" sz="1200" dirty="0" err="1">
                <a:solidFill>
                  <a:schemeClr val="tx1"/>
                </a:solidFill>
              </a:rPr>
              <a:t>Olbert’s</a:t>
            </a:r>
            <a:r>
              <a:rPr lang="en-US" sz="1200" dirty="0">
                <a:solidFill>
                  <a:schemeClr val="tx1"/>
                </a:solidFill>
              </a:rPr>
              <a:t> paradox”. If the night sky were infinite and static, it should be covered with stars not allowing for darkness. To solve the paradox, the Universe must be dynamical in nature allowing for its expansion.</a:t>
            </a:r>
          </a:p>
          <a:p>
            <a:r>
              <a:rPr lang="en-US" sz="1200" dirty="0">
                <a:solidFill>
                  <a:schemeClr val="tx1"/>
                </a:solidFill>
              </a:rPr>
              <a:t>Edwin Hubble discovered in 1929 that the distances of galaxies thought to be moving away from Earth were being influenced by their velocities, the so-called “Hubble’s law”.</a:t>
            </a:r>
          </a:p>
          <a:p>
            <a:r>
              <a:rPr lang="en-US" sz="1200" dirty="0">
                <a:solidFill>
                  <a:schemeClr val="tx1"/>
                </a:solidFill>
              </a:rPr>
              <a:t>As we look out further into space, we are also looking back in time. This adds a level of complication to APS analyses when using simulation data. Cosmological simulations only consider the “comoving” coordinates which do not account for the expansion of the Universe. By adding the redshift value of the objects, the “proper” distance is more accurately reflected. </a:t>
            </a:r>
          </a:p>
        </p:txBody>
      </p:sp>
      <p:pic>
        <p:nvPicPr>
          <p:cNvPr id="8" name="Picture 7">
            <a:extLst>
              <a:ext uri="{FF2B5EF4-FFF2-40B4-BE49-F238E27FC236}">
                <a16:creationId xmlns:a16="http://schemas.microsoft.com/office/drawing/2014/main" id="{9BA89FD2-111D-6ACD-4115-383967BF518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493" r="12084"/>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4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DF15863-BB3A-9C38-D55B-89F51E2540C9}"/>
              </a:ext>
            </a:extLst>
          </p:cNvPr>
          <p:cNvSpPr txBox="1"/>
          <p:nvPr/>
        </p:nvSpPr>
        <p:spPr>
          <a:xfrm>
            <a:off x="9894576" y="6657945"/>
            <a:ext cx="2297424"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www.universetoday.com/author/msimo/">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Tree>
    <p:extLst>
      <p:ext uri="{BB962C8B-B14F-4D97-AF65-F5344CB8AC3E}">
        <p14:creationId xmlns:p14="http://schemas.microsoft.com/office/powerpoint/2010/main" val="2914166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66FE7FD-169B-8161-C3AD-FB7D90EE879F}"/>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641" r="18048"/>
          <a:stretch/>
        </p:blipFill>
        <p:spPr>
          <a:xfrm>
            <a:off x="2522358" y="10"/>
            <a:ext cx="9669642" cy="6857990"/>
          </a:xfrm>
          <a:prstGeom prst="rect">
            <a:avLst/>
          </a:prstGeom>
        </p:spPr>
      </p:pic>
      <p:sp>
        <p:nvSpPr>
          <p:cNvPr id="2" name="Title 1">
            <a:extLst>
              <a:ext uri="{FF2B5EF4-FFF2-40B4-BE49-F238E27FC236}">
                <a16:creationId xmlns:a16="http://schemas.microsoft.com/office/drawing/2014/main" id="{464DCD0A-EF19-F0FC-CE50-17F4F842A921}"/>
              </a:ext>
            </a:extLst>
          </p:cNvPr>
          <p:cNvSpPr>
            <a:spLocks noGrp="1"/>
          </p:cNvSpPr>
          <p:nvPr>
            <p:ph type="title"/>
          </p:nvPr>
        </p:nvSpPr>
        <p:spPr>
          <a:xfrm>
            <a:off x="535665" y="134911"/>
            <a:ext cx="3973385" cy="837836"/>
          </a:xfrm>
          <a:noFill/>
        </p:spPr>
        <p:txBody>
          <a:bodyPr vert="horz" lIns="91440" tIns="45720" rIns="91440" bIns="45720" rtlCol="0" anchor="b">
            <a:normAutofit/>
          </a:bodyPr>
          <a:lstStyle/>
          <a:p>
            <a:r>
              <a:rPr lang="en-US" sz="5200" dirty="0"/>
              <a:t>Challenges</a:t>
            </a:r>
          </a:p>
        </p:txBody>
      </p:sp>
      <p:sp>
        <p:nvSpPr>
          <p:cNvPr id="16" name="Content Placeholder 2">
            <a:extLst>
              <a:ext uri="{FF2B5EF4-FFF2-40B4-BE49-F238E27FC236}">
                <a16:creationId xmlns:a16="http://schemas.microsoft.com/office/drawing/2014/main" id="{CEE5CB2D-1081-DF87-7F4E-3013956C0D48}"/>
              </a:ext>
            </a:extLst>
          </p:cNvPr>
          <p:cNvSpPr>
            <a:spLocks noGrp="1"/>
          </p:cNvSpPr>
          <p:nvPr>
            <p:ph type="body" idx="1"/>
          </p:nvPr>
        </p:nvSpPr>
        <p:spPr>
          <a:xfrm>
            <a:off x="535665" y="972747"/>
            <a:ext cx="3766512" cy="5607935"/>
          </a:xfrm>
          <a:noFill/>
        </p:spPr>
        <p:txBody>
          <a:bodyPr vert="horz" lIns="91440" tIns="45720" rIns="91440" bIns="45720" rtlCol="0">
            <a:normAutofit fontScale="92500" lnSpcReduction="10000"/>
          </a:bodyPr>
          <a:lstStyle/>
          <a:p>
            <a:r>
              <a:rPr lang="en-US" sz="1400" dirty="0">
                <a:solidFill>
                  <a:schemeClr val="tx1"/>
                </a:solidFill>
              </a:rPr>
              <a:t>By injecting redshift into the datasets, this presented a unique set of challenges for constructing the code.</a:t>
            </a:r>
          </a:p>
          <a:p>
            <a:r>
              <a:rPr lang="en-US" sz="1400" dirty="0">
                <a:solidFill>
                  <a:schemeClr val="tx1"/>
                </a:solidFill>
              </a:rPr>
              <a:t>The first was figuring out where and how to insert the new code into the existing APS generation script.</a:t>
            </a:r>
          </a:p>
          <a:p>
            <a:r>
              <a:rPr lang="en-US" sz="1400" dirty="0">
                <a:solidFill>
                  <a:schemeClr val="tx1"/>
                </a:solidFill>
              </a:rPr>
              <a:t>The second was exactly what needed to be considered from the data to get the results. This required a little exploration into the dataset, specifically the header.</a:t>
            </a:r>
          </a:p>
          <a:p>
            <a:r>
              <a:rPr lang="en-US" sz="1400" dirty="0">
                <a:solidFill>
                  <a:schemeClr val="tx1"/>
                </a:solidFill>
              </a:rPr>
              <a:t>It was initially determined that only the particle ids and the coordinates were needed. Later in the testing process however, box size attributed to some challenges in using some of the datasets.</a:t>
            </a:r>
          </a:p>
          <a:p>
            <a:r>
              <a:rPr lang="en-US" sz="1400" dirty="0">
                <a:solidFill>
                  <a:schemeClr val="tx1"/>
                </a:solidFill>
              </a:rPr>
              <a:t>A third challenge arose after determining that the PNW simulation box size was too small to account for the vast distances making the redshift calculations troublesome, so the </a:t>
            </a:r>
            <a:r>
              <a:rPr lang="en-US" sz="1400" dirty="0" err="1">
                <a:solidFill>
                  <a:schemeClr val="tx1"/>
                </a:solidFill>
              </a:rPr>
              <a:t>Quijote</a:t>
            </a:r>
            <a:r>
              <a:rPr lang="en-US" sz="1400" dirty="0">
                <a:solidFill>
                  <a:schemeClr val="tx1"/>
                </a:solidFill>
              </a:rPr>
              <a:t> dataset was used.</a:t>
            </a:r>
          </a:p>
          <a:p>
            <a:r>
              <a:rPr lang="en-US" sz="1400" dirty="0">
                <a:solidFill>
                  <a:schemeClr val="tx1"/>
                </a:solidFill>
              </a:rPr>
              <a:t>Using the </a:t>
            </a:r>
            <a:r>
              <a:rPr lang="en-US" sz="1400" dirty="0" err="1">
                <a:solidFill>
                  <a:schemeClr val="tx1"/>
                </a:solidFill>
              </a:rPr>
              <a:t>Quijote</a:t>
            </a:r>
            <a:r>
              <a:rPr lang="en-US" sz="1400" dirty="0">
                <a:solidFill>
                  <a:schemeClr val="tx1"/>
                </a:solidFill>
              </a:rPr>
              <a:t> dataset also proved challenging with it being in multiple hdf5 files so a “stitching” function needed to be created to get the full snapshot.</a:t>
            </a:r>
          </a:p>
          <a:p>
            <a:r>
              <a:rPr lang="en-US" sz="1400" dirty="0">
                <a:solidFill>
                  <a:schemeClr val="tx1"/>
                </a:solidFill>
              </a:rPr>
              <a:t>Another challenge was deciding whether to use comoving coordinates or “proper” coordinates as comoving coordinates factor out the expansion of the Universe and “proper” coordinates loosely corresponds to where a particle would be at a moment in cosmological time which is dynamic.</a:t>
            </a:r>
          </a:p>
          <a:p>
            <a:endParaRPr lang="en-US" sz="800" dirty="0">
              <a:solidFill>
                <a:schemeClr val="tx1"/>
              </a:solidFill>
            </a:endParaRPr>
          </a:p>
          <a:p>
            <a:endParaRPr lang="en-US" sz="800" dirty="0">
              <a:solidFill>
                <a:schemeClr val="tx1"/>
              </a:solidFill>
            </a:endParaRPr>
          </a:p>
          <a:p>
            <a:endParaRPr lang="en-US" sz="800" dirty="0">
              <a:solidFill>
                <a:schemeClr val="tx1"/>
              </a:solidFill>
            </a:endParaRPr>
          </a:p>
        </p:txBody>
      </p:sp>
    </p:spTree>
    <p:extLst>
      <p:ext uri="{BB962C8B-B14F-4D97-AF65-F5344CB8AC3E}">
        <p14:creationId xmlns:p14="http://schemas.microsoft.com/office/powerpoint/2010/main" val="2832754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B0856A-2417-A235-AD09-19A6FB04EB55}"/>
              </a:ext>
            </a:extLst>
          </p:cNvPr>
          <p:cNvSpPr>
            <a:spLocks noGrp="1"/>
          </p:cNvSpPr>
          <p:nvPr>
            <p:ph type="title"/>
          </p:nvPr>
        </p:nvSpPr>
        <p:spPr>
          <a:xfrm>
            <a:off x="572493" y="238539"/>
            <a:ext cx="11018520" cy="1434415"/>
          </a:xfrm>
        </p:spPr>
        <p:txBody>
          <a:bodyPr anchor="b">
            <a:normAutofit/>
          </a:bodyPr>
          <a:lstStyle/>
          <a:p>
            <a:r>
              <a:rPr lang="en-US" sz="5400"/>
              <a:t>Libraries and Tech</a:t>
            </a:r>
          </a:p>
        </p:txBody>
      </p:sp>
      <p:sp>
        <p:nvSpPr>
          <p:cNvPr id="3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6792874F-F8A0-7AF9-55AE-B78CFF90ED0A}"/>
              </a:ext>
            </a:extLst>
          </p:cNvPr>
          <p:cNvSpPr>
            <a:spLocks noGrp="1"/>
          </p:cNvSpPr>
          <p:nvPr>
            <p:ph idx="1"/>
          </p:nvPr>
        </p:nvSpPr>
        <p:spPr>
          <a:xfrm>
            <a:off x="572493" y="2071316"/>
            <a:ext cx="6713552" cy="4119172"/>
          </a:xfrm>
        </p:spPr>
        <p:txBody>
          <a:bodyPr anchor="t">
            <a:normAutofit/>
          </a:bodyPr>
          <a:lstStyle/>
          <a:p>
            <a:pPr marL="285750" indent="-285750">
              <a:buFont typeface="Arial" panose="020B0604020202020204" pitchFamily="34" charset="0"/>
              <a:buChar char="•"/>
            </a:pPr>
            <a:r>
              <a:rPr lang="en-US" sz="1900"/>
              <a:t>Astropy- Common astrophysical and cosmological values</a:t>
            </a:r>
          </a:p>
          <a:p>
            <a:pPr marL="285750" indent="-285750">
              <a:buFont typeface="Arial" panose="020B0604020202020204" pitchFamily="34" charset="0"/>
              <a:buChar char="•"/>
            </a:pPr>
            <a:r>
              <a:rPr lang="en-US" sz="1900"/>
              <a:t>Healpy – to generate Mollweide maps and visualize the angular coordinates.</a:t>
            </a:r>
          </a:p>
          <a:p>
            <a:pPr marL="285750" indent="-285750">
              <a:buFont typeface="Arial" panose="020B0604020202020204" pitchFamily="34" charset="0"/>
              <a:buChar char="•"/>
            </a:pPr>
            <a:r>
              <a:rPr lang="en-US" sz="1900"/>
              <a:t>H5py – importing hdf5 files</a:t>
            </a:r>
          </a:p>
          <a:p>
            <a:pPr marL="285750" indent="-285750">
              <a:buFont typeface="Arial" panose="020B0604020202020204" pitchFamily="34" charset="0"/>
              <a:buChar char="•"/>
            </a:pPr>
            <a:r>
              <a:rPr lang="en-US" sz="1900"/>
              <a:t>Numpy – numerical calculations</a:t>
            </a:r>
          </a:p>
          <a:p>
            <a:pPr marL="285750" indent="-285750">
              <a:buFont typeface="Arial" panose="020B0604020202020204" pitchFamily="34" charset="0"/>
              <a:buChar char="•"/>
            </a:pPr>
            <a:r>
              <a:rPr lang="en-US" sz="1900"/>
              <a:t>Scipy – integration techniques are included in this package</a:t>
            </a:r>
          </a:p>
          <a:p>
            <a:pPr marL="285750" indent="-285750">
              <a:buFont typeface="Arial" panose="020B0604020202020204" pitchFamily="34" charset="0"/>
              <a:buChar char="•"/>
            </a:pPr>
            <a:r>
              <a:rPr lang="en-US" sz="1900"/>
              <a:t>Matplotlib – Used to plot APS and histograms</a:t>
            </a:r>
          </a:p>
          <a:p>
            <a:pPr marL="285750" indent="-285750">
              <a:buFont typeface="Arial" panose="020B0604020202020204" pitchFamily="34" charset="0"/>
              <a:buChar char="•"/>
            </a:pPr>
            <a:r>
              <a:rPr lang="en-US" sz="1900"/>
              <a:t>Pandas – Used to visualize datasets</a:t>
            </a:r>
          </a:p>
          <a:p>
            <a:pPr marL="285750" indent="-285750">
              <a:buFont typeface="Arial" panose="020B0604020202020204" pitchFamily="34" charset="0"/>
              <a:buChar char="•"/>
            </a:pPr>
            <a:r>
              <a:rPr lang="en-US" sz="1900"/>
              <a:t>Pylians – A Quijote project package, used to visualize and confirm data</a:t>
            </a:r>
          </a:p>
          <a:p>
            <a:pPr marL="285750" indent="-285750">
              <a:buFont typeface="Arial" panose="020B0604020202020204" pitchFamily="34" charset="0"/>
              <a:buChar char="•"/>
            </a:pPr>
            <a:r>
              <a:rPr lang="en-US" sz="1900"/>
              <a:t>Seaborn</a:t>
            </a:r>
          </a:p>
        </p:txBody>
      </p:sp>
      <p:pic>
        <p:nvPicPr>
          <p:cNvPr id="5" name="Picture 4">
            <a:extLst>
              <a:ext uri="{FF2B5EF4-FFF2-40B4-BE49-F238E27FC236}">
                <a16:creationId xmlns:a16="http://schemas.microsoft.com/office/drawing/2014/main" id="{AC3FC43F-90BF-8C8D-C6F2-15836FFED392}"/>
              </a:ext>
            </a:extLst>
          </p:cNvPr>
          <p:cNvPicPr>
            <a:picLocks noChangeAspect="1"/>
          </p:cNvPicPr>
          <p:nvPr/>
        </p:nvPicPr>
        <p:blipFill>
          <a:blip r:embed="rId3">
            <a:extLst>
              <a:ext uri="{28A0092B-C50C-407E-A947-70E740481C1C}">
                <a14:useLocalDpi xmlns:a14="http://schemas.microsoft.com/office/drawing/2010/main" val="0"/>
              </a:ext>
            </a:extLst>
          </a:blip>
          <a:srcRect l="18174" r="27712" b="2"/>
          <a:stretch/>
        </p:blipFill>
        <p:spPr>
          <a:xfrm>
            <a:off x="7675658" y="2093976"/>
            <a:ext cx="3941064" cy="4096512"/>
          </a:xfrm>
          <a:prstGeom prst="rect">
            <a:avLst/>
          </a:prstGeom>
        </p:spPr>
      </p:pic>
    </p:spTree>
    <p:extLst>
      <p:ext uri="{BB962C8B-B14F-4D97-AF65-F5344CB8AC3E}">
        <p14:creationId xmlns:p14="http://schemas.microsoft.com/office/powerpoint/2010/main" val="4196682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B712D9-2551-E507-E46F-88E580B686E6}"/>
              </a:ext>
            </a:extLst>
          </p:cNvPr>
          <p:cNvSpPr>
            <a:spLocks noGrp="1"/>
          </p:cNvSpPr>
          <p:nvPr>
            <p:ph type="title"/>
          </p:nvPr>
        </p:nvSpPr>
        <p:spPr>
          <a:xfrm>
            <a:off x="841248" y="548640"/>
            <a:ext cx="3600860" cy="5431536"/>
          </a:xfrm>
        </p:spPr>
        <p:txBody>
          <a:bodyPr>
            <a:normAutofit/>
          </a:bodyPr>
          <a:lstStyle/>
          <a:p>
            <a:r>
              <a:rPr lang="en-US" sz="5000"/>
              <a:t>Methodology</a:t>
            </a:r>
          </a:p>
        </p:txBody>
      </p:sp>
      <p:sp>
        <p:nvSpPr>
          <p:cNvPr id="3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D667B8BD-99EE-275B-8353-8361C78FED4C}"/>
              </a:ext>
            </a:extLst>
          </p:cNvPr>
          <p:cNvSpPr>
            <a:spLocks noGrp="1"/>
          </p:cNvSpPr>
          <p:nvPr>
            <p:ph idx="1"/>
          </p:nvPr>
        </p:nvSpPr>
        <p:spPr>
          <a:xfrm>
            <a:off x="5126418" y="552091"/>
            <a:ext cx="6224335" cy="5431536"/>
          </a:xfrm>
        </p:spPr>
        <p:txBody>
          <a:bodyPr anchor="ctr">
            <a:normAutofit/>
          </a:bodyPr>
          <a:lstStyle/>
          <a:p>
            <a:pPr marL="457200" indent="-457200">
              <a:buFont typeface="+mj-lt"/>
              <a:buAutoNum type="arabicPeriod"/>
            </a:pPr>
            <a:r>
              <a:rPr lang="en-US" sz="2200"/>
              <a:t>The main idea behind injecting redshift is to reflect what we see in real observational data. Using an APS generator template, I was able to tailor the generator to include redshifted objects.</a:t>
            </a:r>
          </a:p>
          <a:p>
            <a:pPr marL="457200" indent="-457200">
              <a:buFont typeface="+mj-lt"/>
              <a:buAutoNum type="arabicPeriod"/>
            </a:pPr>
            <a:r>
              <a:rPr lang="en-US" sz="2200"/>
              <a:t>The initial step of finding where and how to place the redshift code was accomplished by placing the code block after all other APS calculations and conversions were completed.</a:t>
            </a:r>
          </a:p>
          <a:p>
            <a:pPr marL="457200" indent="-457200">
              <a:buFont typeface="+mj-lt"/>
              <a:buAutoNum type="arabicPeriod"/>
            </a:pPr>
            <a:r>
              <a:rPr lang="en-US" sz="2200"/>
              <a:t>2 snapshots were chosen initially, 0 and 0.5.</a:t>
            </a:r>
          </a:p>
        </p:txBody>
      </p:sp>
    </p:spTree>
    <p:extLst>
      <p:ext uri="{BB962C8B-B14F-4D97-AF65-F5344CB8AC3E}">
        <p14:creationId xmlns:p14="http://schemas.microsoft.com/office/powerpoint/2010/main" val="4216653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7C249B-0747-773A-FBDB-F9156033DAC4}"/>
              </a:ext>
            </a:extLst>
          </p:cNvPr>
          <p:cNvSpPr>
            <a:spLocks noGrp="1"/>
          </p:cNvSpPr>
          <p:nvPr>
            <p:ph type="title"/>
          </p:nvPr>
        </p:nvSpPr>
        <p:spPr>
          <a:xfrm>
            <a:off x="438913" y="859536"/>
            <a:ext cx="4832802" cy="1243584"/>
          </a:xfrm>
        </p:spPr>
        <p:txBody>
          <a:bodyPr vert="horz" lIns="91440" tIns="45720" rIns="91440" bIns="45720" rtlCol="0" anchor="ctr">
            <a:normAutofit/>
          </a:bodyPr>
          <a:lstStyle/>
          <a:p>
            <a:r>
              <a:rPr lang="en-US" sz="3400"/>
              <a:t>Calculating redshift using Python</a:t>
            </a:r>
          </a:p>
        </p:txBody>
      </p:sp>
      <p:sp>
        <p:nvSpPr>
          <p:cNvPr id="19" name="Rectangle 1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B1D4778-DC2E-EB9F-390E-051B0050A9DE}"/>
              </a:ext>
            </a:extLst>
          </p:cNvPr>
          <p:cNvSpPr>
            <a:spLocks noGrp="1"/>
          </p:cNvSpPr>
          <p:nvPr>
            <p:ph sz="half" idx="1"/>
          </p:nvPr>
        </p:nvSpPr>
        <p:spPr>
          <a:xfrm>
            <a:off x="438912" y="2512611"/>
            <a:ext cx="4832803" cy="3664351"/>
          </a:xfrm>
        </p:spPr>
        <p:txBody>
          <a:bodyPr vert="horz" lIns="91440" tIns="45720" rIns="91440" bIns="45720" rtlCol="0">
            <a:normAutofit/>
          </a:bodyPr>
          <a:lstStyle/>
          <a:p>
            <a:pPr marL="514350"/>
            <a:r>
              <a:rPr lang="en-US" sz="1400"/>
              <a:t>To calculate redshift, you must integrate the speed of light divided by the Hubble parameter at a specific redshift to find the comoving distance, D_c. The parameter itself depends on the cosmological model being used.</a:t>
            </a:r>
          </a:p>
          <a:p>
            <a:pPr marL="514350"/>
            <a:r>
              <a:rPr lang="en-US" sz="1400"/>
              <a:t>The resulting comoving distance is then divided by 1 + z to account for the expansion of the Universe giving the proper distance, D_p.</a:t>
            </a:r>
          </a:p>
          <a:p>
            <a:pPr marL="514350"/>
            <a:r>
              <a:rPr lang="en-US" sz="1400"/>
              <a:t>At z = 0, there is no redshift, and the snapshot is the present-day Universe at 13.7020 Gyr. At z = 0.5, the age of the Universe is 8.628 Gyr and the comoving radial distance is 1908.7 Mpc in the snapshot.</a:t>
            </a:r>
          </a:p>
          <a:p>
            <a:pPr marL="514350"/>
            <a:r>
              <a:rPr lang="en-US" sz="1400"/>
              <a:t>For this presentation, Astropy was used in place of manual redshift calculations to keep the precision.</a:t>
            </a:r>
          </a:p>
        </p:txBody>
      </p:sp>
      <p:pic>
        <p:nvPicPr>
          <p:cNvPr id="6" name="Content Placeholder 5" descr="A math equation with black text&#10;&#10;Description automatically generated with medium confidence">
            <a:extLst>
              <a:ext uri="{FF2B5EF4-FFF2-40B4-BE49-F238E27FC236}">
                <a16:creationId xmlns:a16="http://schemas.microsoft.com/office/drawing/2014/main" id="{D3CA5179-FBBF-998B-1C08-DD9882C5EC0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r="31" b="-1"/>
          <a:stretch/>
        </p:blipFill>
        <p:spPr>
          <a:xfrm>
            <a:off x="6617368" y="899627"/>
            <a:ext cx="5135719" cy="1979146"/>
          </a:xfrm>
          <a:prstGeom prst="rect">
            <a:avLst/>
          </a:prstGeom>
        </p:spPr>
      </p:pic>
      <p:pic>
        <p:nvPicPr>
          <p:cNvPr id="8" name="Picture 7" descr="A screenshot of a computer program&#10;&#10;Description automatically generated">
            <a:extLst>
              <a:ext uri="{FF2B5EF4-FFF2-40B4-BE49-F238E27FC236}">
                <a16:creationId xmlns:a16="http://schemas.microsoft.com/office/drawing/2014/main" id="{D253B3A8-73B0-59C5-08D4-3BAD88E3665D}"/>
              </a:ext>
            </a:extLst>
          </p:cNvPr>
          <p:cNvPicPr>
            <a:picLocks noChangeAspect="1"/>
          </p:cNvPicPr>
          <p:nvPr/>
        </p:nvPicPr>
        <p:blipFill>
          <a:blip r:embed="rId3">
            <a:extLst>
              <a:ext uri="{28A0092B-C50C-407E-A947-70E740481C1C}">
                <a14:useLocalDpi xmlns:a14="http://schemas.microsoft.com/office/drawing/2010/main" val="0"/>
              </a:ext>
            </a:extLst>
          </a:blip>
          <a:srcRect l="1521" r="28943"/>
          <a:stretch/>
        </p:blipFill>
        <p:spPr>
          <a:xfrm>
            <a:off x="6617368" y="3535799"/>
            <a:ext cx="5135719" cy="2529602"/>
          </a:xfrm>
          <a:prstGeom prst="rect">
            <a:avLst/>
          </a:prstGeom>
        </p:spPr>
      </p:pic>
    </p:spTree>
    <p:extLst>
      <p:ext uri="{BB962C8B-B14F-4D97-AF65-F5344CB8AC3E}">
        <p14:creationId xmlns:p14="http://schemas.microsoft.com/office/powerpoint/2010/main" val="1900887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B759A1-F3B0-6AB7-DA4B-EBBAE62E6924}"/>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up of a galaxy&#10;&#10;Description automatically generated">
            <a:extLst>
              <a:ext uri="{FF2B5EF4-FFF2-40B4-BE49-F238E27FC236}">
                <a16:creationId xmlns:a16="http://schemas.microsoft.com/office/drawing/2014/main" id="{670A0D25-9A49-26AC-CD16-2DA7395ADC21}"/>
              </a:ext>
            </a:extLst>
          </p:cNvPr>
          <p:cNvPicPr>
            <a:picLocks noChangeAspect="1"/>
          </p:cNvPicPr>
          <p:nvPr/>
        </p:nvPicPr>
        <p:blipFill>
          <a:blip r:embed="rId3">
            <a:extLst>
              <a:ext uri="{28A0092B-C50C-407E-A947-70E740481C1C}">
                <a14:useLocalDpi xmlns:a14="http://schemas.microsoft.com/office/drawing/2010/main" val="0"/>
              </a:ext>
            </a:extLst>
          </a:blip>
          <a:srcRect r="8352"/>
          <a:stretch/>
        </p:blipFill>
        <p:spPr>
          <a:xfrm>
            <a:off x="2522356" y="10"/>
            <a:ext cx="9666595" cy="6857990"/>
          </a:xfrm>
          <a:prstGeom prst="rect">
            <a:avLst/>
          </a:prstGeom>
        </p:spPr>
      </p:pic>
      <p:sp>
        <p:nvSpPr>
          <p:cNvPr id="30" name="Rectangle 2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5A4A6A3-B655-2FCC-783A-279A31E6F8A9}"/>
              </a:ext>
            </a:extLst>
          </p:cNvPr>
          <p:cNvSpPr>
            <a:spLocks noGrp="1"/>
          </p:cNvSpPr>
          <p:nvPr>
            <p:ph type="title"/>
          </p:nvPr>
        </p:nvSpPr>
        <p:spPr>
          <a:xfrm>
            <a:off x="838200" y="365125"/>
            <a:ext cx="3822189" cy="1899912"/>
          </a:xfrm>
        </p:spPr>
        <p:txBody>
          <a:bodyPr>
            <a:normAutofit/>
          </a:bodyPr>
          <a:lstStyle/>
          <a:p>
            <a:r>
              <a:rPr lang="en-US" sz="4000"/>
              <a:t>Methodology cont.</a:t>
            </a:r>
          </a:p>
        </p:txBody>
      </p:sp>
      <p:sp>
        <p:nvSpPr>
          <p:cNvPr id="5" name="Content Placeholder 4">
            <a:extLst>
              <a:ext uri="{FF2B5EF4-FFF2-40B4-BE49-F238E27FC236}">
                <a16:creationId xmlns:a16="http://schemas.microsoft.com/office/drawing/2014/main" id="{60200CE2-78A3-C85D-3BF3-07421067F1EC}"/>
              </a:ext>
            </a:extLst>
          </p:cNvPr>
          <p:cNvSpPr>
            <a:spLocks noGrp="1"/>
          </p:cNvSpPr>
          <p:nvPr>
            <p:ph idx="1"/>
          </p:nvPr>
        </p:nvSpPr>
        <p:spPr>
          <a:xfrm>
            <a:off x="838200" y="2434201"/>
            <a:ext cx="3822189" cy="3742762"/>
          </a:xfrm>
        </p:spPr>
        <p:txBody>
          <a:bodyPr>
            <a:normAutofit/>
          </a:bodyPr>
          <a:lstStyle/>
          <a:p>
            <a:pPr marL="457200" indent="-457200">
              <a:buFont typeface="+mj-lt"/>
              <a:buAutoNum type="arabicPeriod"/>
            </a:pPr>
            <a:r>
              <a:rPr lang="en-US" sz="1200" dirty="0"/>
              <a:t>Due to the PNW box size being significantly smaller, the dataset encountered a scaling issue.</a:t>
            </a:r>
          </a:p>
          <a:p>
            <a:pPr marL="457200" indent="-457200">
              <a:buFont typeface="+mj-lt"/>
              <a:buAutoNum type="arabicPeriod"/>
            </a:pPr>
            <a:r>
              <a:rPr lang="en-US" sz="1200" dirty="0"/>
              <a:t>Box size determines how big the simulation box will be when the simulation is completed, </a:t>
            </a:r>
            <a:r>
              <a:rPr lang="en-US" sz="1200" dirty="0" err="1"/>
              <a:t>i.e</a:t>
            </a:r>
            <a:r>
              <a:rPr lang="en-US" sz="1200" dirty="0"/>
              <a:t> box size of 50 yields a box where the max distance for a coordinate is 50 units.</a:t>
            </a:r>
          </a:p>
          <a:p>
            <a:pPr marL="457200" indent="-457200">
              <a:buFont typeface="+mj-lt"/>
              <a:buAutoNum type="arabicPeriod"/>
            </a:pPr>
            <a:r>
              <a:rPr lang="en-US" sz="1200" dirty="0"/>
              <a:t>The </a:t>
            </a:r>
            <a:r>
              <a:rPr lang="en-US" sz="1200" dirty="0" err="1"/>
              <a:t>Quijote</a:t>
            </a:r>
            <a:r>
              <a:rPr lang="en-US" sz="1200" dirty="0"/>
              <a:t> data was then used as their box size was e6+, however the snapshots were broken into multiple components that needed to be stitched together.</a:t>
            </a:r>
          </a:p>
          <a:p>
            <a:pPr marL="457200" indent="-457200">
              <a:buFont typeface="+mj-lt"/>
              <a:buAutoNum type="arabicPeriod"/>
            </a:pPr>
            <a:r>
              <a:rPr lang="en-US" sz="1200" dirty="0"/>
              <a:t>After that code was imported, the resulting snapshot was then used to generate an APS as well as a Mollweide projection and a histogram of the radial coordinates.</a:t>
            </a:r>
          </a:p>
          <a:p>
            <a:pPr marL="457200" indent="-457200">
              <a:buFont typeface="+mj-lt"/>
              <a:buAutoNum type="arabicPeriod"/>
            </a:pPr>
            <a:r>
              <a:rPr lang="en-US" sz="1200" dirty="0"/>
              <a:t>The radial coordinates were sliced off the dataset and the remaining angular coordinates from the 0.5 snapshot were appended to the 0 snapshot coordinates, creating a new dataset.</a:t>
            </a:r>
          </a:p>
          <a:p>
            <a:pPr marL="457200" indent="-457200">
              <a:buFont typeface="+mj-lt"/>
              <a:buAutoNum type="arabicPeriod"/>
            </a:pPr>
            <a:endParaRPr lang="en-US" sz="1100" dirty="0"/>
          </a:p>
        </p:txBody>
      </p:sp>
    </p:spTree>
    <p:extLst>
      <p:ext uri="{BB962C8B-B14F-4D97-AF65-F5344CB8AC3E}">
        <p14:creationId xmlns:p14="http://schemas.microsoft.com/office/powerpoint/2010/main" val="936653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4542C2-DCED-F972-6786-CC1C941AFF0A}"/>
              </a:ext>
            </a:extLst>
          </p:cNvPr>
          <p:cNvSpPr>
            <a:spLocks noGrp="1"/>
          </p:cNvSpPr>
          <p:nvPr>
            <p:ph type="title"/>
          </p:nvPr>
        </p:nvSpPr>
        <p:spPr>
          <a:xfrm>
            <a:off x="630936" y="639520"/>
            <a:ext cx="3429000" cy="1719072"/>
          </a:xfrm>
        </p:spPr>
        <p:txBody>
          <a:bodyPr anchor="b">
            <a:normAutofit/>
          </a:bodyPr>
          <a:lstStyle/>
          <a:p>
            <a:r>
              <a:rPr lang="en-US" sz="4600"/>
              <a:t>Data Visualization</a:t>
            </a:r>
          </a:p>
        </p:txBody>
      </p:sp>
      <p:sp>
        <p:nvSpPr>
          <p:cNvPr id="2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6D7B409-475F-4EA9-BEB4-D6079D81ACE2}"/>
              </a:ext>
            </a:extLst>
          </p:cNvPr>
          <p:cNvSpPr>
            <a:spLocks noGrp="1"/>
          </p:cNvSpPr>
          <p:nvPr>
            <p:ph idx="1"/>
          </p:nvPr>
        </p:nvSpPr>
        <p:spPr>
          <a:xfrm>
            <a:off x="630936" y="2807208"/>
            <a:ext cx="3429000" cy="3410712"/>
          </a:xfrm>
        </p:spPr>
        <p:txBody>
          <a:bodyPr anchor="t">
            <a:normAutofit lnSpcReduction="10000"/>
          </a:bodyPr>
          <a:lstStyle/>
          <a:p>
            <a:r>
              <a:rPr lang="en-US" sz="1900" dirty="0"/>
              <a:t>A histogram was generated to determine which coordinates were to be moved. The resulting histogram displayed an interesting trend.</a:t>
            </a:r>
          </a:p>
          <a:p>
            <a:r>
              <a:rPr lang="en-US" sz="1900" dirty="0"/>
              <a:t>Visualizing the redshift values as concentric circles with each value representing a boundary determined which radii in the dataset was to be placed in the z=0 snapshot.</a:t>
            </a:r>
          </a:p>
        </p:txBody>
      </p:sp>
      <p:pic>
        <p:nvPicPr>
          <p:cNvPr id="5" name="Picture 4" descr="A blue graph with white text&#10;&#10;Description automatically generated">
            <a:extLst>
              <a:ext uri="{FF2B5EF4-FFF2-40B4-BE49-F238E27FC236}">
                <a16:creationId xmlns:a16="http://schemas.microsoft.com/office/drawing/2014/main" id="{417E2CC1-05D6-3824-CFE5-5ED37D1928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4296" y="702030"/>
            <a:ext cx="6903720" cy="5453939"/>
          </a:xfrm>
          <a:prstGeom prst="rect">
            <a:avLst/>
          </a:prstGeom>
        </p:spPr>
      </p:pic>
    </p:spTree>
    <p:extLst>
      <p:ext uri="{BB962C8B-B14F-4D97-AF65-F5344CB8AC3E}">
        <p14:creationId xmlns:p14="http://schemas.microsoft.com/office/powerpoint/2010/main" val="4096281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91569A-34A4-377E-0F83-6EAD1FA36E79}"/>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EB203A-A47A-9181-FAA4-C45C8F491F94}"/>
              </a:ext>
            </a:extLst>
          </p:cNvPr>
          <p:cNvSpPr>
            <a:spLocks noGrp="1"/>
          </p:cNvSpPr>
          <p:nvPr>
            <p:ph type="title"/>
          </p:nvPr>
        </p:nvSpPr>
        <p:spPr>
          <a:xfrm>
            <a:off x="1008184" y="174032"/>
            <a:ext cx="10175631" cy="1111843"/>
          </a:xfrm>
        </p:spPr>
        <p:txBody>
          <a:bodyPr vert="horz" lIns="91440" tIns="45720" rIns="91440" bIns="45720" rtlCol="0" anchor="ctr">
            <a:normAutofit/>
          </a:bodyPr>
          <a:lstStyle/>
          <a:p>
            <a:pPr algn="ctr"/>
            <a:r>
              <a:rPr lang="en-US" sz="4000" kern="1200">
                <a:solidFill>
                  <a:schemeClr val="tx1"/>
                </a:solidFill>
                <a:latin typeface="+mj-lt"/>
                <a:ea typeface="+mj-ea"/>
                <a:cs typeface="+mj-cs"/>
              </a:rPr>
              <a:t>APS at z = 0</a:t>
            </a:r>
          </a:p>
        </p:txBody>
      </p:sp>
      <p:pic>
        <p:nvPicPr>
          <p:cNvPr id="18" name="Content Placeholder 17" descr="A graph with red lines on a black background&#10;&#10;Description automatically generated">
            <a:extLst>
              <a:ext uri="{FF2B5EF4-FFF2-40B4-BE49-F238E27FC236}">
                <a16:creationId xmlns:a16="http://schemas.microsoft.com/office/drawing/2014/main" id="{012099C1-272B-AC7E-5B3F-6AB3D0CF792B}"/>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2431550" y="2405149"/>
            <a:ext cx="7322802" cy="3899393"/>
          </a:xfrm>
          <a:prstGeom prst="rect">
            <a:avLst/>
          </a:prstGeom>
        </p:spPr>
      </p:pic>
    </p:spTree>
    <p:extLst>
      <p:ext uri="{BB962C8B-B14F-4D97-AF65-F5344CB8AC3E}">
        <p14:creationId xmlns:p14="http://schemas.microsoft.com/office/powerpoint/2010/main" val="3244420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56036C-D689-84A6-4C9C-F146EE942988}"/>
              </a:ext>
            </a:extLst>
          </p:cNvPr>
          <p:cNvSpPr>
            <a:spLocks noGrp="1"/>
          </p:cNvSpPr>
          <p:nvPr>
            <p:ph type="title"/>
          </p:nvPr>
        </p:nvSpPr>
        <p:spPr>
          <a:xfrm>
            <a:off x="838200" y="5358141"/>
            <a:ext cx="10515600" cy="942664"/>
          </a:xfrm>
        </p:spPr>
        <p:txBody>
          <a:bodyPr>
            <a:normAutofit/>
          </a:bodyPr>
          <a:lstStyle/>
          <a:p>
            <a:pPr algn="ctr"/>
            <a:r>
              <a:rPr lang="en-US" sz="5200"/>
              <a:t>APS at z = 0.5</a:t>
            </a:r>
          </a:p>
        </p:txBody>
      </p:sp>
      <p:pic>
        <p:nvPicPr>
          <p:cNvPr id="3" name="Content Placeholder 19" descr="A graph with a red line&#10;&#10;Description automatically generated">
            <a:extLst>
              <a:ext uri="{FF2B5EF4-FFF2-40B4-BE49-F238E27FC236}">
                <a16:creationId xmlns:a16="http://schemas.microsoft.com/office/drawing/2014/main" id="{193063BC-9F45-0D34-CE11-9D97BE4862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9300" y="557189"/>
            <a:ext cx="8693399" cy="4629236"/>
          </a:xfrm>
          <a:prstGeom prst="rect">
            <a:avLst/>
          </a:prstGeom>
        </p:spPr>
      </p:pic>
    </p:spTree>
    <p:extLst>
      <p:ext uri="{BB962C8B-B14F-4D97-AF65-F5344CB8AC3E}">
        <p14:creationId xmlns:p14="http://schemas.microsoft.com/office/powerpoint/2010/main" val="1595153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DF0612-B823-DE40-F8BA-21C3C7022BC6}"/>
              </a:ext>
            </a:extLst>
          </p:cNvPr>
          <p:cNvSpPr>
            <a:spLocks noGrp="1"/>
          </p:cNvSpPr>
          <p:nvPr>
            <p:ph type="title"/>
          </p:nvPr>
        </p:nvSpPr>
        <p:spPr>
          <a:xfrm>
            <a:off x="1008184" y="174032"/>
            <a:ext cx="10175631" cy="1111843"/>
          </a:xfrm>
        </p:spPr>
        <p:txBody>
          <a:bodyPr vert="horz" lIns="91440" tIns="45720" rIns="91440" bIns="45720" rtlCol="0" anchor="ctr">
            <a:normAutofit/>
          </a:bodyPr>
          <a:lstStyle/>
          <a:p>
            <a:pPr algn="ctr"/>
            <a:r>
              <a:rPr lang="en-US" sz="4000" kern="1200">
                <a:solidFill>
                  <a:schemeClr val="tx1"/>
                </a:solidFill>
                <a:latin typeface="+mj-lt"/>
                <a:ea typeface="+mj-ea"/>
                <a:cs typeface="+mj-cs"/>
              </a:rPr>
              <a:t>APS at z = 1</a:t>
            </a:r>
          </a:p>
        </p:txBody>
      </p:sp>
      <p:pic>
        <p:nvPicPr>
          <p:cNvPr id="11" name="Content Placeholder 10" descr="A graph with red lines&#10;&#10;Description automatically generated">
            <a:extLst>
              <a:ext uri="{FF2B5EF4-FFF2-40B4-BE49-F238E27FC236}">
                <a16:creationId xmlns:a16="http://schemas.microsoft.com/office/drawing/2014/main" id="{96EA459D-C601-EE9E-3075-5DD708E86DE8}"/>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2431550" y="2405149"/>
            <a:ext cx="7322802" cy="3899393"/>
          </a:xfrm>
          <a:prstGeom prst="rect">
            <a:avLst/>
          </a:prstGeom>
        </p:spPr>
      </p:pic>
    </p:spTree>
    <p:extLst>
      <p:ext uri="{BB962C8B-B14F-4D97-AF65-F5344CB8AC3E}">
        <p14:creationId xmlns:p14="http://schemas.microsoft.com/office/powerpoint/2010/main" val="3981893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8577FCE-2BE4-BF2D-382F-5175B51CC030}"/>
              </a:ext>
            </a:extLst>
          </p:cNvPr>
          <p:cNvSpPr>
            <a:spLocks noGrp="1"/>
          </p:cNvSpPr>
          <p:nvPr>
            <p:ph type="title"/>
          </p:nvPr>
        </p:nvSpPr>
        <p:spPr>
          <a:xfrm>
            <a:off x="838200" y="5358141"/>
            <a:ext cx="10515600" cy="942664"/>
          </a:xfrm>
        </p:spPr>
        <p:txBody>
          <a:bodyPr>
            <a:normAutofit/>
          </a:bodyPr>
          <a:lstStyle/>
          <a:p>
            <a:pPr algn="ctr"/>
            <a:r>
              <a:rPr lang="en-US" sz="5200"/>
              <a:t>APS at z = 2</a:t>
            </a:r>
          </a:p>
        </p:txBody>
      </p:sp>
      <p:pic>
        <p:nvPicPr>
          <p:cNvPr id="3" name="Content Placeholder 12" descr="A graph with red lines&#10;&#10;Description automatically generated">
            <a:extLst>
              <a:ext uri="{FF2B5EF4-FFF2-40B4-BE49-F238E27FC236}">
                <a16:creationId xmlns:a16="http://schemas.microsoft.com/office/drawing/2014/main" id="{DE88F1D8-0B2A-9763-EF0F-97F5D0674F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9300" y="557189"/>
            <a:ext cx="8693399" cy="4629236"/>
          </a:xfrm>
          <a:prstGeom prst="rect">
            <a:avLst/>
          </a:prstGeom>
        </p:spPr>
      </p:pic>
    </p:spTree>
    <p:extLst>
      <p:ext uri="{BB962C8B-B14F-4D97-AF65-F5344CB8AC3E}">
        <p14:creationId xmlns:p14="http://schemas.microsoft.com/office/powerpoint/2010/main" val="975283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4E0F900-9349-932F-2E10-D140209058C2}"/>
              </a:ext>
            </a:extLst>
          </p:cNvPr>
          <p:cNvSpPr>
            <a:spLocks noGrp="1"/>
          </p:cNvSpPr>
          <p:nvPr>
            <p:ph type="title"/>
          </p:nvPr>
        </p:nvSpPr>
        <p:spPr>
          <a:xfrm>
            <a:off x="640080" y="5576887"/>
            <a:ext cx="10911840" cy="640081"/>
          </a:xfrm>
        </p:spPr>
        <p:txBody>
          <a:bodyPr vert="horz" lIns="91440" tIns="45720" rIns="91440" bIns="45720" rtlCol="0" anchor="ctr">
            <a:normAutofit/>
          </a:bodyPr>
          <a:lstStyle/>
          <a:p>
            <a:pPr algn="ctr"/>
            <a:r>
              <a:rPr lang="en-US" sz="3200"/>
              <a:t>APS at z=3</a:t>
            </a:r>
          </a:p>
        </p:txBody>
      </p:sp>
      <p:pic>
        <p:nvPicPr>
          <p:cNvPr id="10" name="Content Placeholder 9" descr="A graph with red lines&#10;&#10;Description automatically generated">
            <a:extLst>
              <a:ext uri="{FF2B5EF4-FFF2-40B4-BE49-F238E27FC236}">
                <a16:creationId xmlns:a16="http://schemas.microsoft.com/office/drawing/2014/main" id="{07CACB3A-E87A-62B7-743A-2B2FB1274CB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6758" r="1" b="1"/>
          <a:stretch/>
        </p:blipFill>
        <p:spPr>
          <a:xfrm>
            <a:off x="640080" y="640080"/>
            <a:ext cx="10911840" cy="4836795"/>
          </a:xfrm>
          <a:prstGeom prst="rect">
            <a:avLst/>
          </a:prstGeom>
          <a:ln w="19050">
            <a:solidFill>
              <a:schemeClr val="tx1"/>
            </a:solidFill>
            <a:miter lim="800000"/>
          </a:ln>
        </p:spPr>
      </p:pic>
    </p:spTree>
    <p:extLst>
      <p:ext uri="{BB962C8B-B14F-4D97-AF65-F5344CB8AC3E}">
        <p14:creationId xmlns:p14="http://schemas.microsoft.com/office/powerpoint/2010/main" val="3264387538"/>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273C60C1-68CC-0494-D405-0A540DCC5829}"/>
              </a:ext>
            </a:extLst>
          </p:cNvPr>
          <p:cNvSpPr>
            <a:spLocks noGrp="1"/>
          </p:cNvSpPr>
          <p:nvPr>
            <p:ph type="title"/>
          </p:nvPr>
        </p:nvSpPr>
        <p:spPr>
          <a:xfrm>
            <a:off x="838200" y="184805"/>
            <a:ext cx="10515600" cy="1505883"/>
          </a:xfrm>
        </p:spPr>
        <p:txBody>
          <a:bodyPr anchor="ctr">
            <a:normAutofit/>
          </a:bodyPr>
          <a:lstStyle/>
          <a:p>
            <a:r>
              <a:rPr lang="en-US" sz="5200"/>
              <a:t>Preliminary Test using PNW data </a:t>
            </a:r>
          </a:p>
        </p:txBody>
      </p:sp>
      <p:pic>
        <p:nvPicPr>
          <p:cNvPr id="8" name="Picture 7" descr="A graph with red lines&#10;&#10;Description automatically generated">
            <a:extLst>
              <a:ext uri="{FF2B5EF4-FFF2-40B4-BE49-F238E27FC236}">
                <a16:creationId xmlns:a16="http://schemas.microsoft.com/office/drawing/2014/main" id="{61F4D19E-FF78-FCC7-183F-2AF6807F82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6075" y="1845426"/>
            <a:ext cx="8396796" cy="4450303"/>
          </a:xfrm>
          <a:prstGeom prst="rect">
            <a:avLst/>
          </a:prstGeom>
        </p:spPr>
      </p:pic>
    </p:spTree>
    <p:extLst>
      <p:ext uri="{BB962C8B-B14F-4D97-AF65-F5344CB8AC3E}">
        <p14:creationId xmlns:p14="http://schemas.microsoft.com/office/powerpoint/2010/main" val="312317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F314609-8CC8-5F60-7301-1C03D48185DB}"/>
              </a:ext>
            </a:extLst>
          </p:cNvPr>
          <p:cNvSpPr>
            <a:spLocks noGrp="1"/>
          </p:cNvSpPr>
          <p:nvPr>
            <p:ph type="title"/>
          </p:nvPr>
        </p:nvSpPr>
        <p:spPr>
          <a:xfrm>
            <a:off x="838200" y="5358141"/>
            <a:ext cx="10515600" cy="942664"/>
          </a:xfrm>
        </p:spPr>
        <p:txBody>
          <a:bodyPr>
            <a:normAutofit/>
          </a:bodyPr>
          <a:lstStyle/>
          <a:p>
            <a:pPr algn="ctr"/>
            <a:r>
              <a:rPr lang="en-US" sz="5200"/>
              <a:t>Z = 0</a:t>
            </a:r>
          </a:p>
        </p:txBody>
      </p:sp>
      <p:pic>
        <p:nvPicPr>
          <p:cNvPr id="18" name="Content Placeholder 17" descr="A blue and purple globe with white text&#10;&#10;Description automatically generated">
            <a:extLst>
              <a:ext uri="{FF2B5EF4-FFF2-40B4-BE49-F238E27FC236}">
                <a16:creationId xmlns:a16="http://schemas.microsoft.com/office/drawing/2014/main" id="{8E8338F6-3EB3-3451-3A11-01A5B78291B7}"/>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rcRect t="8114" r="1" b="3235"/>
          <a:stretch/>
        </p:blipFill>
        <p:spPr>
          <a:xfrm>
            <a:off x="874189" y="557189"/>
            <a:ext cx="10443622" cy="4629236"/>
          </a:xfrm>
          <a:prstGeom prst="rect">
            <a:avLst/>
          </a:prstGeom>
        </p:spPr>
      </p:pic>
    </p:spTree>
    <p:extLst>
      <p:ext uri="{BB962C8B-B14F-4D97-AF65-F5344CB8AC3E}">
        <p14:creationId xmlns:p14="http://schemas.microsoft.com/office/powerpoint/2010/main" val="1832539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7070A980-B5AB-27FE-581A-132BB5282302}"/>
              </a:ext>
            </a:extLst>
          </p:cNvPr>
          <p:cNvSpPr>
            <a:spLocks noGrp="1"/>
          </p:cNvSpPr>
          <p:nvPr>
            <p:ph type="title"/>
          </p:nvPr>
        </p:nvSpPr>
        <p:spPr>
          <a:xfrm>
            <a:off x="838200" y="5358141"/>
            <a:ext cx="10515600" cy="942664"/>
          </a:xfrm>
        </p:spPr>
        <p:txBody>
          <a:bodyPr vert="horz" lIns="91440" tIns="45720" rIns="91440" bIns="45720" rtlCol="0">
            <a:normAutofit/>
          </a:bodyPr>
          <a:lstStyle/>
          <a:p>
            <a:pPr algn="ctr"/>
            <a:r>
              <a:rPr lang="en-US" sz="5200"/>
              <a:t>Z =0.5</a:t>
            </a:r>
          </a:p>
        </p:txBody>
      </p:sp>
      <p:pic>
        <p:nvPicPr>
          <p:cNvPr id="8" name="Content Placeholder 19" descr="A purple and white globe&#10;&#10;Description automatically generated with medium confidence">
            <a:extLst>
              <a:ext uri="{FF2B5EF4-FFF2-40B4-BE49-F238E27FC236}">
                <a16:creationId xmlns:a16="http://schemas.microsoft.com/office/drawing/2014/main" id="{9F9F7BD0-AB7E-C3C3-6B1A-5E76E41E4EE8}"/>
              </a:ext>
            </a:extLst>
          </p:cNvPr>
          <p:cNvPicPr>
            <a:picLocks noChangeAspect="1"/>
          </p:cNvPicPr>
          <p:nvPr/>
        </p:nvPicPr>
        <p:blipFill>
          <a:blip r:embed="rId2">
            <a:extLst>
              <a:ext uri="{28A0092B-C50C-407E-A947-70E740481C1C}">
                <a14:useLocalDpi xmlns:a14="http://schemas.microsoft.com/office/drawing/2010/main" val="0"/>
              </a:ext>
            </a:extLst>
          </a:blip>
          <a:srcRect l="2969" r="8143"/>
          <a:stretch/>
        </p:blipFill>
        <p:spPr>
          <a:xfrm>
            <a:off x="1981165" y="557189"/>
            <a:ext cx="8229669" cy="4629236"/>
          </a:xfrm>
          <a:prstGeom prst="rect">
            <a:avLst/>
          </a:prstGeom>
        </p:spPr>
      </p:pic>
    </p:spTree>
    <p:extLst>
      <p:ext uri="{BB962C8B-B14F-4D97-AF65-F5344CB8AC3E}">
        <p14:creationId xmlns:p14="http://schemas.microsoft.com/office/powerpoint/2010/main" val="698058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2BA6B3-2208-027A-2574-9A564A7E515F}"/>
              </a:ext>
            </a:extLst>
          </p:cNvPr>
          <p:cNvSpPr>
            <a:spLocks noGrp="1"/>
          </p:cNvSpPr>
          <p:nvPr>
            <p:ph type="title"/>
          </p:nvPr>
        </p:nvSpPr>
        <p:spPr>
          <a:xfrm>
            <a:off x="838200" y="5358141"/>
            <a:ext cx="10515600" cy="942664"/>
          </a:xfrm>
        </p:spPr>
        <p:txBody>
          <a:bodyPr vert="horz" lIns="91440" tIns="45720" rIns="91440" bIns="45720" rtlCol="0">
            <a:normAutofit/>
          </a:bodyPr>
          <a:lstStyle/>
          <a:p>
            <a:pPr algn="ctr"/>
            <a:r>
              <a:rPr lang="en-US" sz="5200"/>
              <a:t>Z = 1</a:t>
            </a:r>
          </a:p>
        </p:txBody>
      </p:sp>
      <p:pic>
        <p:nvPicPr>
          <p:cNvPr id="8" name="Content Placeholder 7" descr="A purple oval with white lines&#10;&#10;Description automatically generated">
            <a:extLst>
              <a:ext uri="{FF2B5EF4-FFF2-40B4-BE49-F238E27FC236}">
                <a16:creationId xmlns:a16="http://schemas.microsoft.com/office/drawing/2014/main" id="{DA90D09D-52FF-48B0-E709-84F4A6B4947D}"/>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rcRect t="7355" b="2646"/>
          <a:stretch/>
        </p:blipFill>
        <p:spPr>
          <a:xfrm>
            <a:off x="950823" y="557195"/>
            <a:ext cx="10287304" cy="4629236"/>
          </a:xfrm>
          <a:prstGeom prst="rect">
            <a:avLst/>
          </a:prstGeom>
        </p:spPr>
      </p:pic>
    </p:spTree>
    <p:extLst>
      <p:ext uri="{BB962C8B-B14F-4D97-AF65-F5344CB8AC3E}">
        <p14:creationId xmlns:p14="http://schemas.microsoft.com/office/powerpoint/2010/main" val="3472731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7D5C6051-78FE-F6FE-8E29-6CF7CFF76FA6}"/>
              </a:ext>
            </a:extLst>
          </p:cNvPr>
          <p:cNvSpPr>
            <a:spLocks noGrp="1"/>
          </p:cNvSpPr>
          <p:nvPr>
            <p:ph type="title"/>
          </p:nvPr>
        </p:nvSpPr>
        <p:spPr>
          <a:xfrm>
            <a:off x="838200" y="5358141"/>
            <a:ext cx="10515600" cy="942664"/>
          </a:xfrm>
        </p:spPr>
        <p:txBody>
          <a:bodyPr>
            <a:normAutofit/>
          </a:bodyPr>
          <a:lstStyle/>
          <a:p>
            <a:pPr algn="ctr"/>
            <a:r>
              <a:rPr lang="en-US" sz="5200"/>
              <a:t>Z = 2</a:t>
            </a:r>
          </a:p>
        </p:txBody>
      </p:sp>
      <p:pic>
        <p:nvPicPr>
          <p:cNvPr id="8" name="Content Placeholder 9" descr="A purple and orange oval with white lines&#10;&#10;Description automatically generated">
            <a:extLst>
              <a:ext uri="{FF2B5EF4-FFF2-40B4-BE49-F238E27FC236}">
                <a16:creationId xmlns:a16="http://schemas.microsoft.com/office/drawing/2014/main" id="{D2B115DB-4001-3A15-D59A-6366BC310A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6765" y="557189"/>
            <a:ext cx="9258469" cy="4629236"/>
          </a:xfrm>
          <a:prstGeom prst="rect">
            <a:avLst/>
          </a:prstGeom>
        </p:spPr>
      </p:pic>
    </p:spTree>
    <p:extLst>
      <p:ext uri="{BB962C8B-B14F-4D97-AF65-F5344CB8AC3E}">
        <p14:creationId xmlns:p14="http://schemas.microsoft.com/office/powerpoint/2010/main" val="1773483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descr="A close-up of a colorful oval&#10;&#10;Description automatically generated">
            <a:extLst>
              <a:ext uri="{FF2B5EF4-FFF2-40B4-BE49-F238E27FC236}">
                <a16:creationId xmlns:a16="http://schemas.microsoft.com/office/drawing/2014/main" id="{6BF94624-4B3F-F73D-1994-C123D39F188B}"/>
              </a:ext>
            </a:extLst>
          </p:cNvPr>
          <p:cNvPicPr>
            <a:picLocks noChangeAspect="1"/>
          </p:cNvPicPr>
          <p:nvPr/>
        </p:nvPicPr>
        <p:blipFill>
          <a:blip r:embed="rId2">
            <a:extLst>
              <a:ext uri="{28A0092B-C50C-407E-A947-70E740481C1C}">
                <a14:useLocalDpi xmlns:a14="http://schemas.microsoft.com/office/drawing/2010/main" val="0"/>
              </a:ext>
            </a:extLst>
          </a:blip>
          <a:srcRect l="2855" r="7811" b="-1"/>
          <a:stretch/>
        </p:blipFill>
        <p:spPr>
          <a:xfrm>
            <a:off x="-3047" y="10"/>
            <a:ext cx="12191999" cy="6857990"/>
          </a:xfrm>
          <a:prstGeom prst="rect">
            <a:avLst/>
          </a:prstGeom>
        </p:spPr>
      </p:pic>
      <p:sp>
        <p:nvSpPr>
          <p:cNvPr id="20" name="Rectangle 1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4EE096CC-0C80-1348-9839-7436CF2BA6F7}"/>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ln w="22225">
                  <a:solidFill>
                    <a:srgbClr val="FFFFFF"/>
                  </a:solidFill>
                </a:ln>
                <a:solidFill>
                  <a:srgbClr val="FFFFFF"/>
                </a:solidFill>
              </a:rPr>
              <a:t>Z=3</a:t>
            </a:r>
          </a:p>
        </p:txBody>
      </p:sp>
    </p:spTree>
    <p:extLst>
      <p:ext uri="{BB962C8B-B14F-4D97-AF65-F5344CB8AC3E}">
        <p14:creationId xmlns:p14="http://schemas.microsoft.com/office/powerpoint/2010/main" val="260637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10" descr="A circular object with stars in it&#10;&#10;Description automatically generated">
            <a:extLst>
              <a:ext uri="{FF2B5EF4-FFF2-40B4-BE49-F238E27FC236}">
                <a16:creationId xmlns:a16="http://schemas.microsoft.com/office/drawing/2014/main" id="{483FD116-07F0-1948-E90F-8C3544036694}"/>
              </a:ext>
            </a:extLst>
          </p:cNvPr>
          <p:cNvPicPr>
            <a:picLocks noChangeAspect="1"/>
          </p:cNvPicPr>
          <p:nvPr/>
        </p:nvPicPr>
        <p:blipFill>
          <a:blip r:embed="rId3">
            <a:extLst>
              <a:ext uri="{28A0092B-C50C-407E-A947-70E740481C1C}">
                <a14:useLocalDpi xmlns:a14="http://schemas.microsoft.com/office/drawing/2010/main" val="0"/>
              </a:ext>
            </a:extLst>
          </a:blip>
          <a:srcRect t="32725" b="32700"/>
          <a:stretch/>
        </p:blipFill>
        <p:spPr>
          <a:xfrm>
            <a:off x="1" y="10"/>
            <a:ext cx="9669642" cy="6857990"/>
          </a:xfrm>
          <a:prstGeom prst="rect">
            <a:avLst/>
          </a:prstGeom>
        </p:spPr>
      </p:pic>
      <p:sp>
        <p:nvSpPr>
          <p:cNvPr id="34" name="Rectangle 3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0437EA4-EB2F-C296-D37C-E548CE3CAEB4}"/>
              </a:ext>
            </a:extLst>
          </p:cNvPr>
          <p:cNvSpPr>
            <a:spLocks noGrp="1"/>
          </p:cNvSpPr>
          <p:nvPr>
            <p:ph type="title"/>
          </p:nvPr>
        </p:nvSpPr>
        <p:spPr>
          <a:xfrm>
            <a:off x="7531610" y="365125"/>
            <a:ext cx="3822189" cy="1899912"/>
          </a:xfrm>
        </p:spPr>
        <p:txBody>
          <a:bodyPr vert="horz" lIns="91440" tIns="45720" rIns="91440" bIns="45720" rtlCol="0">
            <a:normAutofit/>
          </a:bodyPr>
          <a:lstStyle/>
          <a:p>
            <a:r>
              <a:rPr lang="en-US" sz="4000" dirty="0"/>
              <a:t>Next Phase</a:t>
            </a:r>
          </a:p>
        </p:txBody>
      </p:sp>
      <p:sp>
        <p:nvSpPr>
          <p:cNvPr id="24" name="Content Placeholder 14">
            <a:extLst>
              <a:ext uri="{FF2B5EF4-FFF2-40B4-BE49-F238E27FC236}">
                <a16:creationId xmlns:a16="http://schemas.microsoft.com/office/drawing/2014/main" id="{18A82EDE-EDED-8267-01BC-153D97FA8D6A}"/>
              </a:ext>
            </a:extLst>
          </p:cNvPr>
          <p:cNvSpPr>
            <a:spLocks noGrp="1"/>
          </p:cNvSpPr>
          <p:nvPr>
            <p:ph idx="1"/>
          </p:nvPr>
        </p:nvSpPr>
        <p:spPr>
          <a:xfrm>
            <a:off x="7531610" y="2434201"/>
            <a:ext cx="3822189" cy="3742762"/>
          </a:xfrm>
        </p:spPr>
        <p:txBody>
          <a:bodyPr>
            <a:normAutofit/>
          </a:bodyPr>
          <a:lstStyle/>
          <a:p>
            <a:r>
              <a:rPr lang="en-US" sz="1400" dirty="0"/>
              <a:t>By adding redshift to the dataset, we are closer to showing real data observations in simulations. This will allow more parameter variations in future simulations and give us the ability to add to other public data to give a more robust comparison.</a:t>
            </a:r>
          </a:p>
          <a:p>
            <a:r>
              <a:rPr lang="en-US" sz="1400" dirty="0"/>
              <a:t>In the future, we would like to add the northern sky to obtain a full sky map.</a:t>
            </a:r>
          </a:p>
          <a:p>
            <a:r>
              <a:rPr lang="en-US" sz="1400" dirty="0"/>
              <a:t>For our simulations to improve in precision, we must consider things like redshift as it reflects what we observe in our Universe. </a:t>
            </a:r>
          </a:p>
          <a:p>
            <a:r>
              <a:rPr lang="en-US" sz="1400" dirty="0"/>
              <a:t>With more precision, we will be able to open the doors </a:t>
            </a:r>
            <a:r>
              <a:rPr lang="en-US" sz="1400"/>
              <a:t>for  constraining parameters</a:t>
            </a:r>
            <a:endParaRPr lang="en-US" sz="1400" dirty="0"/>
          </a:p>
        </p:txBody>
      </p:sp>
    </p:spTree>
    <p:extLst>
      <p:ext uri="{BB962C8B-B14F-4D97-AF65-F5344CB8AC3E}">
        <p14:creationId xmlns:p14="http://schemas.microsoft.com/office/powerpoint/2010/main" val="950134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les in folders">
            <a:extLst>
              <a:ext uri="{FF2B5EF4-FFF2-40B4-BE49-F238E27FC236}">
                <a16:creationId xmlns:a16="http://schemas.microsoft.com/office/drawing/2014/main" id="{0B0EAC8B-AA01-2ECE-D7F5-224CF8294A61}"/>
              </a:ext>
            </a:extLst>
          </p:cNvPr>
          <p:cNvPicPr>
            <a:picLocks noChangeAspect="1"/>
          </p:cNvPicPr>
          <p:nvPr/>
        </p:nvPicPr>
        <p:blipFill>
          <a:blip r:embed="rId2"/>
          <a:srcRect l="1" r="5881" b="-1"/>
          <a:stretch/>
        </p:blipFill>
        <p:spPr>
          <a:xfrm>
            <a:off x="2522356" y="10"/>
            <a:ext cx="9669642" cy="6857990"/>
          </a:xfrm>
          <a:prstGeom prst="rect">
            <a:avLst/>
          </a:prstGeom>
        </p:spPr>
      </p:pic>
      <p:sp>
        <p:nvSpPr>
          <p:cNvPr id="31" name="Rectangle 3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5CDF759-45D9-95C0-3F90-18C39895AFF2}"/>
              </a:ext>
            </a:extLst>
          </p:cNvPr>
          <p:cNvSpPr>
            <a:spLocks noGrp="1"/>
          </p:cNvSpPr>
          <p:nvPr>
            <p:ph type="title"/>
          </p:nvPr>
        </p:nvSpPr>
        <p:spPr>
          <a:xfrm>
            <a:off x="838200" y="365125"/>
            <a:ext cx="3822189" cy="909039"/>
          </a:xfrm>
        </p:spPr>
        <p:txBody>
          <a:bodyPr vert="horz" lIns="91440" tIns="45720" rIns="91440" bIns="45720" rtlCol="0" anchor="ctr">
            <a:normAutofit/>
          </a:bodyPr>
          <a:lstStyle/>
          <a:p>
            <a:r>
              <a:rPr lang="en-US" sz="4000" dirty="0"/>
              <a:t>References</a:t>
            </a:r>
          </a:p>
        </p:txBody>
      </p:sp>
      <p:sp>
        <p:nvSpPr>
          <p:cNvPr id="4" name="Content Placeholder 3">
            <a:extLst>
              <a:ext uri="{FF2B5EF4-FFF2-40B4-BE49-F238E27FC236}">
                <a16:creationId xmlns:a16="http://schemas.microsoft.com/office/drawing/2014/main" id="{99B19181-8A01-8E1B-1935-FA205FF23532}"/>
              </a:ext>
            </a:extLst>
          </p:cNvPr>
          <p:cNvSpPr>
            <a:spLocks noGrp="1"/>
          </p:cNvSpPr>
          <p:nvPr>
            <p:ph idx="4294967295"/>
          </p:nvPr>
        </p:nvSpPr>
        <p:spPr>
          <a:xfrm>
            <a:off x="838200" y="1064302"/>
            <a:ext cx="3822189" cy="5112661"/>
          </a:xfrm>
        </p:spPr>
        <p:txBody>
          <a:bodyPr vert="horz" lIns="91440" tIns="45720" rIns="91440" bIns="45720" rtlCol="0">
            <a:normAutofit fontScale="40000" lnSpcReduction="20000"/>
          </a:bodyPr>
          <a:lstStyle/>
          <a:p>
            <a:r>
              <a:rPr lang="en-US" sz="2300" dirty="0"/>
              <a:t>DES Collaboration, 2005, arXiv:0510346[astro-</a:t>
            </a:r>
            <a:r>
              <a:rPr lang="en-US" sz="2300" dirty="0" err="1"/>
              <a:t>ph</a:t>
            </a:r>
            <a:r>
              <a:rPr lang="en-US" sz="2300" dirty="0"/>
              <a:t>].</a:t>
            </a:r>
          </a:p>
          <a:p>
            <a:r>
              <a:rPr lang="en-US" sz="2300" dirty="0"/>
              <a:t>DES Collaboration, 2016, MNRAS 460, 2, 1270.</a:t>
            </a:r>
          </a:p>
          <a:p>
            <a:r>
              <a:rPr lang="en-US" sz="2300" dirty="0"/>
              <a:t>DES Collaboration, 2018, Phys Rev D 98, 043526.</a:t>
            </a:r>
          </a:p>
          <a:p>
            <a:r>
              <a:rPr lang="en-US" sz="2300" dirty="0"/>
              <a:t>DES Collaboration, 2022, Phys Rev D, 105, 023520.</a:t>
            </a:r>
          </a:p>
          <a:p>
            <a:r>
              <a:rPr lang="en-US" sz="2300" dirty="0" err="1"/>
              <a:t>Dodelson</a:t>
            </a:r>
            <a:r>
              <a:rPr lang="en-US" sz="2300" dirty="0"/>
              <a:t>, S. 2003, Amsterdam(Netherlands): Academic Press.</a:t>
            </a:r>
          </a:p>
          <a:p>
            <a:r>
              <a:rPr lang="en-US" sz="2300" dirty="0" err="1"/>
              <a:t>Drlicia</a:t>
            </a:r>
            <a:r>
              <a:rPr lang="en-US" sz="2300" dirty="0"/>
              <a:t>-Wagner, A., et al., 2018, </a:t>
            </a:r>
            <a:r>
              <a:rPr lang="en-US" sz="2300" dirty="0" err="1"/>
              <a:t>ApJS</a:t>
            </a:r>
            <a:r>
              <a:rPr lang="en-US" sz="2300" dirty="0"/>
              <a:t>, 235, 33.</a:t>
            </a:r>
          </a:p>
          <a:p>
            <a:r>
              <a:rPr lang="en-US" sz="2300" dirty="0" err="1"/>
              <a:t>Drlicia</a:t>
            </a:r>
            <a:r>
              <a:rPr lang="en-US" sz="2300" dirty="0"/>
              <a:t>-Wagner, A., et al., 2021, </a:t>
            </a:r>
            <a:r>
              <a:rPr lang="en-US" sz="2300" dirty="0" err="1"/>
              <a:t>ApJS</a:t>
            </a:r>
            <a:r>
              <a:rPr lang="en-US" sz="2300" dirty="0"/>
              <a:t>, 256, 2.</a:t>
            </a:r>
          </a:p>
          <a:p>
            <a:r>
              <a:rPr lang="en-US" sz="2300" dirty="0" err="1"/>
              <a:t>Drlicia</a:t>
            </a:r>
            <a:r>
              <a:rPr lang="en-US" sz="2300" dirty="0"/>
              <a:t>-Wagner, A., et al., 2022, </a:t>
            </a:r>
            <a:r>
              <a:rPr lang="en-US" sz="2300" dirty="0" err="1"/>
              <a:t>ApJS</a:t>
            </a:r>
            <a:r>
              <a:rPr lang="en-US" sz="2300" dirty="0"/>
              <a:t>, 261, 38.</a:t>
            </a:r>
          </a:p>
          <a:p>
            <a:r>
              <a:rPr lang="en-US" sz="2300" dirty="0" err="1"/>
              <a:t>eBOSS</a:t>
            </a:r>
            <a:r>
              <a:rPr lang="en-US" sz="2300" dirty="0"/>
              <a:t> Collaboration, 2020, Phys Rev D, 103, 083533.</a:t>
            </a:r>
          </a:p>
          <a:p>
            <a:r>
              <a:rPr lang="en-US" sz="2300" dirty="0" err="1"/>
              <a:t>Einsenstein</a:t>
            </a:r>
            <a:r>
              <a:rPr lang="en-US" sz="2300" dirty="0"/>
              <a:t>, D., et al. 2005, </a:t>
            </a:r>
            <a:r>
              <a:rPr lang="en-US" sz="2300" dirty="0" err="1"/>
              <a:t>ApJ</a:t>
            </a:r>
            <a:r>
              <a:rPr lang="en-US" sz="2300" dirty="0"/>
              <a:t>, 633, 560.</a:t>
            </a:r>
          </a:p>
          <a:p>
            <a:r>
              <a:rPr lang="en-US" sz="2300" dirty="0"/>
              <a:t>Elvin-Poole, J., et al., 2018, Phys Rev D 98, 042006.</a:t>
            </a:r>
          </a:p>
          <a:p>
            <a:r>
              <a:rPr lang="en-US" sz="2300" dirty="0" err="1"/>
              <a:t>Hivon</a:t>
            </a:r>
            <a:r>
              <a:rPr lang="en-US" sz="2300" dirty="0"/>
              <a:t>, E., et al., 2002, </a:t>
            </a:r>
            <a:r>
              <a:rPr lang="en-US" sz="2300" dirty="0" err="1"/>
              <a:t>ApJ</a:t>
            </a:r>
            <a:r>
              <a:rPr lang="en-US" sz="2300" dirty="0"/>
              <a:t>, 567, 2.</a:t>
            </a:r>
          </a:p>
          <a:p>
            <a:r>
              <a:rPr lang="en-US" sz="2300" dirty="0"/>
              <a:t>Ho, S., et al., 2012, </a:t>
            </a:r>
            <a:r>
              <a:rPr lang="en-US" sz="2300" dirty="0" err="1"/>
              <a:t>ApJ</a:t>
            </a:r>
            <a:r>
              <a:rPr lang="en-US" sz="2300" dirty="0"/>
              <a:t>, 761, 14.</a:t>
            </a:r>
          </a:p>
          <a:p>
            <a:r>
              <a:rPr lang="en-US" sz="2300" dirty="0" err="1"/>
              <a:t>Hurcha</a:t>
            </a:r>
            <a:r>
              <a:rPr lang="en-US" sz="2300" dirty="0"/>
              <a:t>, J., et al., 1982, </a:t>
            </a:r>
            <a:r>
              <a:rPr lang="en-US" sz="2300" dirty="0" err="1"/>
              <a:t>ApJ</a:t>
            </a:r>
            <a:r>
              <a:rPr lang="en-US" sz="2300" dirty="0"/>
              <a:t>, 257, 423.</a:t>
            </a:r>
          </a:p>
          <a:p>
            <a:r>
              <a:rPr lang="en-US" sz="2300" dirty="0"/>
              <a:t>Peebles P. J.E., 1980 “The large-scale structure of the universe” Princeton University Press.</a:t>
            </a:r>
          </a:p>
          <a:p>
            <a:r>
              <a:rPr lang="en-US" sz="2300" dirty="0"/>
              <a:t>Planck Collaboration, </a:t>
            </a:r>
            <a:r>
              <a:rPr lang="en-US" sz="2300" dirty="0" err="1"/>
              <a:t>Aghanim</a:t>
            </a:r>
            <a:r>
              <a:rPr lang="en-US" sz="2300" dirty="0"/>
              <a:t>, N., et al., 2020, A&amp;A 641, A6.</a:t>
            </a:r>
          </a:p>
          <a:p>
            <a:r>
              <a:rPr lang="en-US" sz="2300" dirty="0"/>
              <a:t>Rodriguez-</a:t>
            </a:r>
            <a:r>
              <a:rPr lang="en-US" sz="2300" dirty="0" err="1"/>
              <a:t>Nonroy</a:t>
            </a:r>
            <a:r>
              <a:rPr lang="en-US" sz="2300" dirty="0"/>
              <a:t>, M., 2022, MNRAS, 511, 2665.</a:t>
            </a:r>
          </a:p>
          <a:p>
            <a:r>
              <a:rPr lang="en-US" sz="2300" dirty="0" err="1"/>
              <a:t>Springel</a:t>
            </a:r>
            <a:r>
              <a:rPr lang="en-US" sz="2300" dirty="0"/>
              <a:t>, V., 2005 MNRAS, 364, 1105.</a:t>
            </a:r>
          </a:p>
          <a:p>
            <a:r>
              <a:rPr lang="en-US" sz="2300" dirty="0" err="1"/>
              <a:t>Springel</a:t>
            </a:r>
            <a:r>
              <a:rPr lang="en-US" sz="2300" dirty="0"/>
              <a:t> V., </a:t>
            </a:r>
            <a:r>
              <a:rPr lang="en-US" sz="2300" dirty="0" err="1"/>
              <a:t>Pakmore</a:t>
            </a:r>
            <a:r>
              <a:rPr lang="en-US" sz="2300" dirty="0"/>
              <a:t>, R, Zier, O, Reinecke, M., 2020, MNRAS, 506, 2871.</a:t>
            </a:r>
          </a:p>
          <a:p>
            <a:r>
              <a:rPr lang="en-US" sz="2300" dirty="0" err="1"/>
              <a:t>Villaescusa</a:t>
            </a:r>
            <a:r>
              <a:rPr lang="en-US" sz="2300" dirty="0"/>
              <a:t>-Navarro, F., et al., 2020, </a:t>
            </a:r>
            <a:r>
              <a:rPr lang="en-US" sz="2300" dirty="0" err="1"/>
              <a:t>ApJS</a:t>
            </a:r>
            <a:r>
              <a:rPr lang="en-US" sz="2300" dirty="0"/>
              <a:t>, 250,2.</a:t>
            </a:r>
          </a:p>
          <a:p>
            <a:endParaRPr lang="en-US" sz="500" dirty="0"/>
          </a:p>
        </p:txBody>
      </p:sp>
    </p:spTree>
    <p:extLst>
      <p:ext uri="{BB962C8B-B14F-4D97-AF65-F5344CB8AC3E}">
        <p14:creationId xmlns:p14="http://schemas.microsoft.com/office/powerpoint/2010/main" val="2435972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urple background with many small dots&#10;&#10;Description automatically generated">
            <a:extLst>
              <a:ext uri="{FF2B5EF4-FFF2-40B4-BE49-F238E27FC236}">
                <a16:creationId xmlns:a16="http://schemas.microsoft.com/office/drawing/2014/main" id="{AC79AA88-AD4E-4650-5973-9F8E4F5E6C53}"/>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25"/>
          <a:stretch/>
        </p:blipFill>
        <p:spPr>
          <a:xfrm>
            <a:off x="20" y="10"/>
            <a:ext cx="12188930" cy="6857990"/>
          </a:xfrm>
          <a:prstGeom prst="rect">
            <a:avLst/>
          </a:prstGeom>
        </p:spPr>
      </p:pic>
      <p:sp>
        <p:nvSpPr>
          <p:cNvPr id="4" name="Title 3">
            <a:extLst>
              <a:ext uri="{FF2B5EF4-FFF2-40B4-BE49-F238E27FC236}">
                <a16:creationId xmlns:a16="http://schemas.microsoft.com/office/drawing/2014/main" id="{EFFBF582-5856-05AD-2E09-35A7AD76143E}"/>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a:solidFill>
                  <a:schemeClr val="bg1"/>
                </a:solidFill>
              </a:rPr>
              <a:t>Questions, Comments?</a:t>
            </a:r>
            <a:br>
              <a:rPr lang="en-US" sz="6600">
                <a:solidFill>
                  <a:schemeClr val="bg1"/>
                </a:solidFill>
              </a:rPr>
            </a:br>
            <a:r>
              <a:rPr lang="en-US" sz="6600">
                <a:solidFill>
                  <a:schemeClr val="bg1"/>
                </a:solidFill>
              </a:rPr>
              <a:t>Feel free to ask or contact me at mackie@pnw.edu</a:t>
            </a:r>
          </a:p>
        </p:txBody>
      </p:sp>
      <p:sp>
        <p:nvSpPr>
          <p:cNvPr id="17"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363060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024FB582342A54AA31F5325198843BC" ma:contentTypeVersion="6" ma:contentTypeDescription="Create a new document." ma:contentTypeScope="" ma:versionID="5c57cd779085f9c8c638eecd9ac134e4">
  <xsd:schema xmlns:xsd="http://www.w3.org/2001/XMLSchema" xmlns:xs="http://www.w3.org/2001/XMLSchema" xmlns:p="http://schemas.microsoft.com/office/2006/metadata/properties" xmlns:ns3="9e7f44bc-e370-4482-9052-aa536abafa27" targetNamespace="http://schemas.microsoft.com/office/2006/metadata/properties" ma:root="true" ma:fieldsID="d3cd942f1e881da347330c515b9d0b77" ns3:_="">
    <xsd:import namespace="9e7f44bc-e370-4482-9052-aa536abafa27"/>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7f44bc-e370-4482-9052-aa536abafa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e7f44bc-e370-4482-9052-aa536abafa2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700492-26F3-4ADE-922C-9AD65DEEB6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7f44bc-e370-4482-9052-aa536abafa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667057-710F-401C-9D20-32D7A7CF68DC}">
  <ds:schemaRefs>
    <ds:schemaRef ds:uri="http://purl.org/dc/elements/1.1/"/>
    <ds:schemaRef ds:uri="http://purl.org/dc/dcmitype/"/>
    <ds:schemaRef ds:uri="http://schemas.microsoft.com/office/2006/metadata/properties"/>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9e7f44bc-e370-4482-9052-aa536abafa27"/>
    <ds:schemaRef ds:uri="http://www.w3.org/XML/1998/namespace"/>
  </ds:schemaRefs>
</ds:datastoreItem>
</file>

<file path=customXml/itemProps3.xml><?xml version="1.0" encoding="utf-8"?>
<ds:datastoreItem xmlns:ds="http://schemas.openxmlformats.org/officeDocument/2006/customXml" ds:itemID="{8E6943B4-453E-4888-A586-06306FB2AC4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6284</TotalTime>
  <Words>1854</Words>
  <Application>Microsoft Office PowerPoint</Application>
  <PresentationFormat>Widescreen</PresentationFormat>
  <Paragraphs>127</Paragraphs>
  <Slides>25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Calibri</vt:lpstr>
      <vt:lpstr>Office Theme</vt:lpstr>
      <vt:lpstr>Improving cosmological simulations using redshift injections</vt:lpstr>
      <vt:lpstr>Background</vt:lpstr>
      <vt:lpstr>Generalized Angular Power Spectra</vt:lpstr>
      <vt:lpstr>What is Redshift</vt:lpstr>
      <vt:lpstr>Why add redshift</vt:lpstr>
      <vt:lpstr>Challenges</vt:lpstr>
      <vt:lpstr>Libraries and Tech</vt:lpstr>
      <vt:lpstr>Methodology</vt:lpstr>
      <vt:lpstr>Calculating redshift using Python</vt:lpstr>
      <vt:lpstr>Methodology cont.</vt:lpstr>
      <vt:lpstr>Data Visualization</vt:lpstr>
      <vt:lpstr>APS at z = 0</vt:lpstr>
      <vt:lpstr>APS at z = 0.5</vt:lpstr>
      <vt:lpstr>APS at z = 1</vt:lpstr>
      <vt:lpstr>APS at z = 2</vt:lpstr>
      <vt:lpstr>APS at z=3</vt:lpstr>
      <vt:lpstr>Preliminary Test using PNW data </vt:lpstr>
      <vt:lpstr>Z = 0</vt:lpstr>
      <vt:lpstr>Z =0.5</vt:lpstr>
      <vt:lpstr>Z = 1</vt:lpstr>
      <vt:lpstr>Z = 2</vt:lpstr>
      <vt:lpstr>Z=3</vt:lpstr>
      <vt:lpstr>Next Phase</vt:lpstr>
      <vt:lpstr>References</vt:lpstr>
      <vt:lpstr>Questions, Comments? Feel free to ask or contact me at mackie@pnw.edu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Deonte Laron Mackie</dc:creator>
  <cp:lastModifiedBy>Deonte Laron Mackie</cp:lastModifiedBy>
  <cp:revision>2</cp:revision>
  <dcterms:created xsi:type="dcterms:W3CDTF">2024-11-20T15:40:22Z</dcterms:created>
  <dcterms:modified xsi:type="dcterms:W3CDTF">2024-12-03T18:09:18Z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0x0101009024FB582342A54AA31F5325198843BC</vt:lpwstr>
  </property>
</Properties>
</file>